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grandir Bold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Heading Now 71-78" panose="020B0604020202020204" charset="0"/>
      <p:regular r:id="rId18"/>
    </p:embeddedFont>
    <p:embeddedFont>
      <p:font typeface="Poppins" panose="00000500000000000000" pitchFamily="2" charset="0"/>
      <p:regular r:id="rId19"/>
    </p:embeddedFont>
    <p:embeddedFont>
      <p:font typeface="Poppins Bold" panose="020B0604020202020204" charset="0"/>
      <p:regular r:id="rId20"/>
    </p:embeddedFont>
    <p:embeddedFont>
      <p:font typeface="Poppins Medium" panose="00000600000000000000" pitchFamily="2" charset="0"/>
      <p:regular r:id="rId21"/>
    </p:embeddedFont>
    <p:embeddedFont>
      <p:font typeface="Poppins Semi-Bold" panose="020B0604020202020204" charset="0"/>
      <p:regular r:id="rId22"/>
    </p:embeddedFont>
    <p:embeddedFont>
      <p:font typeface="TT Firs Neue" panose="020B0604020202020204" charset="0"/>
      <p:regular r:id="rId23"/>
    </p:embeddedFont>
    <p:embeddedFont>
      <p:font typeface="TT Firs Neue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89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 Rathod" userId="02e9f02ec92e9e73" providerId="LiveId" clId="{022AC545-B30D-4EEB-A8D0-BA2F13300F03}"/>
    <pc:docChg chg="undo custSel modSld">
      <pc:chgData name="Mohit Rathod" userId="02e9f02ec92e9e73" providerId="LiveId" clId="{022AC545-B30D-4EEB-A8D0-BA2F13300F03}" dt="2026-08-18T14:08:51.401" v="331" actId="1076"/>
      <pc:docMkLst>
        <pc:docMk/>
      </pc:docMkLst>
      <pc:sldChg chg="addSp delSp modSp mod">
        <pc:chgData name="Mohit Rathod" userId="02e9f02ec92e9e73" providerId="LiveId" clId="{022AC545-B30D-4EEB-A8D0-BA2F13300F03}" dt="2026-08-18T14:08:51.401" v="331" actId="1076"/>
        <pc:sldMkLst>
          <pc:docMk/>
          <pc:sldMk cId="0" sldId="256"/>
        </pc:sldMkLst>
        <pc:spChg chg="mod">
          <ac:chgData name="Mohit Rathod" userId="02e9f02ec92e9e73" providerId="LiveId" clId="{022AC545-B30D-4EEB-A8D0-BA2F13300F03}" dt="2026-08-18T14:07:01.310" v="321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hit Rathod" userId="02e9f02ec92e9e73" providerId="LiveId" clId="{022AC545-B30D-4EEB-A8D0-BA2F13300F03}" dt="2026-08-18T14:07:28.678" v="323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Mohit Rathod" userId="02e9f02ec92e9e73" providerId="LiveId" clId="{022AC545-B30D-4EEB-A8D0-BA2F13300F03}" dt="2026-08-18T14:07:23.636" v="322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Mohit Rathod" userId="02e9f02ec92e9e73" providerId="LiveId" clId="{022AC545-B30D-4EEB-A8D0-BA2F13300F03}" dt="2026-08-18T13:55:01.467" v="295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Mohit Rathod" userId="02e9f02ec92e9e73" providerId="LiveId" clId="{022AC545-B30D-4EEB-A8D0-BA2F13300F03}" dt="2026-08-18T14:08:51.401" v="331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ohit Rathod" userId="02e9f02ec92e9e73" providerId="LiveId" clId="{022AC545-B30D-4EEB-A8D0-BA2F13300F03}" dt="2026-08-18T13:56:07.030" v="298" actId="1076"/>
          <ac:spMkLst>
            <pc:docMk/>
            <pc:sldMk cId="0" sldId="256"/>
            <ac:spMk id="11" creationId="{00000000-0000-0000-0000-000000000000}"/>
          </ac:spMkLst>
        </pc:spChg>
        <pc:grpChg chg="del">
          <ac:chgData name="Mohit Rathod" userId="02e9f02ec92e9e73" providerId="LiveId" clId="{022AC545-B30D-4EEB-A8D0-BA2F13300F03}" dt="2026-08-18T13:57:57.786" v="301" actId="478"/>
          <ac:grpSpMkLst>
            <pc:docMk/>
            <pc:sldMk cId="0" sldId="256"/>
            <ac:grpSpMk id="4" creationId="{00000000-0000-0000-0000-000000000000}"/>
          </ac:grpSpMkLst>
        </pc:grpChg>
        <pc:picChg chg="add del mod">
          <ac:chgData name="Mohit Rathod" userId="02e9f02ec92e9e73" providerId="LiveId" clId="{022AC545-B30D-4EEB-A8D0-BA2F13300F03}" dt="2026-08-18T14:01:23.769" v="307" actId="478"/>
          <ac:picMkLst>
            <pc:docMk/>
            <pc:sldMk cId="0" sldId="256"/>
            <ac:picMk id="13" creationId="{771B20FF-8254-AF33-E392-61E82C022229}"/>
          </ac:picMkLst>
        </pc:picChg>
        <pc:picChg chg="add mod">
          <ac:chgData name="Mohit Rathod" userId="02e9f02ec92e9e73" providerId="LiveId" clId="{022AC545-B30D-4EEB-A8D0-BA2F13300F03}" dt="2026-08-18T14:07:43.612" v="324" actId="1076"/>
          <ac:picMkLst>
            <pc:docMk/>
            <pc:sldMk cId="0" sldId="256"/>
            <ac:picMk id="15" creationId="{2560444B-E23E-CFE4-4833-C10078A039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1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2.png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.sv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8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1.sv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image" Target="../media/image21.svg"/><Relationship Id="rId7" Type="http://schemas.openxmlformats.org/officeDocument/2006/relationships/image" Target="../media/image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26.svg"/><Relationship Id="rId7" Type="http://schemas.openxmlformats.org/officeDocument/2006/relationships/image" Target="../media/image1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Relationship Id="rId9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57036" y="8116793"/>
            <a:ext cx="2283013" cy="2283013"/>
          </a:xfrm>
          <a:custGeom>
            <a:avLst/>
            <a:gdLst/>
            <a:ahLst/>
            <a:cxnLst/>
            <a:rect l="l" t="t" r="r" b="b"/>
            <a:pathLst>
              <a:path w="2283013" h="2283013">
                <a:moveTo>
                  <a:pt x="0" y="0"/>
                </a:moveTo>
                <a:lnTo>
                  <a:pt x="2283013" y="0"/>
                </a:lnTo>
                <a:lnTo>
                  <a:pt x="2283013" y="2283014"/>
                </a:lnTo>
                <a:lnTo>
                  <a:pt x="0" y="2283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7881840" y="-735145"/>
            <a:ext cx="1937559" cy="3277078"/>
          </a:xfrm>
          <a:custGeom>
            <a:avLst/>
            <a:gdLst/>
            <a:ahLst/>
            <a:cxnLst/>
            <a:rect l="l" t="t" r="r" b="b"/>
            <a:pathLst>
              <a:path w="1937559" h="3277078">
                <a:moveTo>
                  <a:pt x="0" y="0"/>
                </a:moveTo>
                <a:lnTo>
                  <a:pt x="1937559" y="0"/>
                </a:lnTo>
                <a:lnTo>
                  <a:pt x="1937559" y="3277078"/>
                </a:lnTo>
                <a:lnTo>
                  <a:pt x="0" y="3277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07041" y="-221586"/>
            <a:ext cx="3199983" cy="3199983"/>
          </a:xfrm>
          <a:custGeom>
            <a:avLst/>
            <a:gdLst/>
            <a:ahLst/>
            <a:cxnLst/>
            <a:rect l="l" t="t" r="r" b="b"/>
            <a:pathLst>
              <a:path w="3199983" h="3199983">
                <a:moveTo>
                  <a:pt x="0" y="0"/>
                </a:moveTo>
                <a:lnTo>
                  <a:pt x="3199984" y="0"/>
                </a:lnTo>
                <a:lnTo>
                  <a:pt x="3199984" y="3199983"/>
                </a:lnTo>
                <a:lnTo>
                  <a:pt x="0" y="31999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910142" y="9637472"/>
            <a:ext cx="3923079" cy="259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8"/>
              </a:lnSpc>
            </a:pPr>
            <a:r>
              <a:rPr lang="en-US" sz="1405" b="1" dirty="0" err="1">
                <a:solidFill>
                  <a:srgbClr val="376521"/>
                </a:solidFill>
                <a:latin typeface="Poppins Bold"/>
                <a:ea typeface="Poppins Bold"/>
                <a:cs typeface="Poppins Bold"/>
                <a:sym typeface="Poppins Bold"/>
              </a:rPr>
              <a:t>FarmVerse</a:t>
            </a:r>
            <a:r>
              <a:rPr lang="en-US" sz="1405" b="1" dirty="0">
                <a:solidFill>
                  <a:srgbClr val="376521"/>
                </a:solidFill>
                <a:latin typeface="Poppins Bold"/>
                <a:ea typeface="Poppins Bold"/>
                <a:cs typeface="Poppins Bold"/>
                <a:sym typeface="Poppins Bold"/>
              </a:rPr>
              <a:t> | Precision Agriculture Platform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92426" y="2202671"/>
            <a:ext cx="10580380" cy="3412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335"/>
              </a:lnSpc>
            </a:pPr>
            <a:r>
              <a:rPr lang="en-US" sz="5335" b="1" dirty="0">
                <a:solidFill>
                  <a:srgbClr val="376521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INTELLIGENT FARM OPERATIONS PLATFORM WITH SMART AGRO PRECISION SYSTEM</a:t>
            </a:r>
            <a:endParaRPr lang="en-US" dirty="0"/>
          </a:p>
          <a:p>
            <a:pPr marL="0" lvl="0" indent="0" algn="l">
              <a:lnSpc>
                <a:spcPts val="5335"/>
              </a:lnSpc>
            </a:pPr>
            <a:endParaRPr lang="en-US" sz="5335" b="1" dirty="0">
              <a:solidFill>
                <a:srgbClr val="376521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9" name="Freeform 9"/>
          <p:cNvSpPr/>
          <p:nvPr/>
        </p:nvSpPr>
        <p:spPr>
          <a:xfrm rot="-3790145">
            <a:off x="17165484" y="5955823"/>
            <a:ext cx="3121436" cy="5279419"/>
          </a:xfrm>
          <a:custGeom>
            <a:avLst/>
            <a:gdLst/>
            <a:ahLst/>
            <a:cxnLst/>
            <a:rect l="l" t="t" r="r" b="b"/>
            <a:pathLst>
              <a:path w="3121436" h="5279419">
                <a:moveTo>
                  <a:pt x="0" y="0"/>
                </a:moveTo>
                <a:lnTo>
                  <a:pt x="3121436" y="0"/>
                </a:lnTo>
                <a:lnTo>
                  <a:pt x="3121436" y="5279419"/>
                </a:lnTo>
                <a:lnTo>
                  <a:pt x="0" y="5279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67762" y="5151863"/>
            <a:ext cx="8665459" cy="841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55"/>
              </a:lnSpc>
            </a:pPr>
            <a:r>
              <a:rPr lang="en-IN" sz="4800" b="1" dirty="0">
                <a:solidFill>
                  <a:srgbClr val="3765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sz="4800" b="1" dirty="0" err="1">
                <a:solidFill>
                  <a:srgbClr val="3765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entor</a:t>
            </a:r>
            <a:r>
              <a:rPr lang="en-US" sz="4800" b="1" dirty="0">
                <a:solidFill>
                  <a:srgbClr val="3765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</a:t>
            </a:r>
            <a:r>
              <a:rPr lang="en-US" sz="4800" b="1" dirty="0" err="1">
                <a:solidFill>
                  <a:srgbClr val="3765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Mr.Vinay</a:t>
            </a:r>
            <a:r>
              <a:rPr lang="en-US" sz="4800" b="1" dirty="0">
                <a:solidFill>
                  <a:srgbClr val="3765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Prashanth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2600" y="6456289"/>
            <a:ext cx="7534441" cy="311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 dirty="0" err="1">
                <a:solidFill>
                  <a:srgbClr val="3765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Koushal</a:t>
            </a:r>
            <a:endParaRPr lang="en-US" sz="2900" b="1" dirty="0">
              <a:solidFill>
                <a:srgbClr val="37652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3765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Madhumitha</a:t>
            </a:r>
          </a:p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3765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Mohit Rathod</a:t>
            </a:r>
          </a:p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3765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Naga Venkata Rama Chandram</a:t>
            </a:r>
          </a:p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3765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Partheepan Sree Kavya</a:t>
            </a:r>
          </a:p>
          <a:p>
            <a:pPr algn="ctr">
              <a:lnSpc>
                <a:spcPts val="4060"/>
              </a:lnSpc>
            </a:pPr>
            <a:r>
              <a:rPr lang="en-US" sz="2900" b="1" dirty="0" err="1">
                <a:solidFill>
                  <a:srgbClr val="3765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Yammuna</a:t>
            </a:r>
            <a:endParaRPr lang="en-US" sz="2900" b="1" dirty="0">
              <a:solidFill>
                <a:srgbClr val="37652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60444B-E23E-CFE4-4833-C10078A039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8970038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2084" y="8298035"/>
            <a:ext cx="473931" cy="4739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640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34053" y="2509900"/>
            <a:ext cx="636919" cy="6369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34053" y="3737642"/>
            <a:ext cx="636919" cy="63691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34053" y="4965111"/>
            <a:ext cx="636919" cy="6369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34053" y="6150065"/>
            <a:ext cx="636919" cy="63691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17407" y="4374561"/>
            <a:ext cx="7792696" cy="3710657"/>
            <a:chOff x="0" y="0"/>
            <a:chExt cx="1207293" cy="57487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07292" cy="574878"/>
            </a:xfrm>
            <a:custGeom>
              <a:avLst/>
              <a:gdLst/>
              <a:ahLst/>
              <a:cxnLst/>
              <a:rect l="l" t="t" r="r" b="b"/>
              <a:pathLst>
                <a:path w="1207292" h="574878">
                  <a:moveTo>
                    <a:pt x="0" y="0"/>
                  </a:moveTo>
                  <a:lnTo>
                    <a:pt x="1207292" y="0"/>
                  </a:lnTo>
                  <a:lnTo>
                    <a:pt x="1207292" y="574878"/>
                  </a:lnTo>
                  <a:lnTo>
                    <a:pt x="0" y="574878"/>
                  </a:lnTo>
                  <a:close/>
                </a:path>
              </a:pathLst>
            </a:custGeom>
            <a:blipFill>
              <a:blip r:embed="rId2"/>
              <a:stretch>
                <a:fillRect t="-8" b="-8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10607967" y="2675813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1517407" y="1296413"/>
            <a:ext cx="7058698" cy="158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47"/>
              </a:lnSpc>
            </a:pPr>
            <a:r>
              <a:rPr lang="en-US" sz="5407" b="1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 With Traditional Farming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41945" y="8316560"/>
            <a:ext cx="3990353" cy="32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83"/>
              </a:lnSpc>
            </a:pPr>
            <a:r>
              <a:rPr lang="en-US" sz="1845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98937" y="3501422"/>
            <a:ext cx="5476369" cy="333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01"/>
              </a:lnSpc>
              <a:spcBef>
                <a:spcPct val="0"/>
              </a:spcBef>
            </a:pPr>
            <a:r>
              <a:rPr lang="en-US" sz="1858" b="1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 Facing Farm Management Today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89432" y="2639448"/>
            <a:ext cx="5311201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Manual record-keeping and scattered information cause inefficiencies.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89432" y="3830366"/>
            <a:ext cx="4281960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Difficult to monitor crops, irrigation, soil, and farm expenses.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89432" y="5094658"/>
            <a:ext cx="4281960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Existing systems are complex, hardware-dependent, or too costly.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89432" y="6219657"/>
            <a:ext cx="4281960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No simple, centralized, affordable platform for small farms.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607967" y="3916712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2"/>
                </a:lnTo>
                <a:lnTo>
                  <a:pt x="0" y="28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0607967" y="5157610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0607967" y="6304928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 rot="544538" flipH="1">
            <a:off x="15163958" y="7083755"/>
            <a:ext cx="3262161" cy="5517434"/>
          </a:xfrm>
          <a:custGeom>
            <a:avLst/>
            <a:gdLst/>
            <a:ahLst/>
            <a:cxnLst/>
            <a:rect l="l" t="t" r="r" b="b"/>
            <a:pathLst>
              <a:path w="3262161" h="5517434">
                <a:moveTo>
                  <a:pt x="3262161" y="0"/>
                </a:moveTo>
                <a:lnTo>
                  <a:pt x="0" y="0"/>
                </a:lnTo>
                <a:lnTo>
                  <a:pt x="0" y="5517434"/>
                </a:lnTo>
                <a:lnTo>
                  <a:pt x="3262161" y="5517434"/>
                </a:lnTo>
                <a:lnTo>
                  <a:pt x="326216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077195" y="8771966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9" y="0"/>
                </a:lnTo>
                <a:lnTo>
                  <a:pt x="3639729" y="3639728"/>
                </a:lnTo>
                <a:lnTo>
                  <a:pt x="0" y="363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-570105" y="1410672"/>
            <a:ext cx="1598805" cy="2704128"/>
          </a:xfrm>
          <a:custGeom>
            <a:avLst/>
            <a:gdLst/>
            <a:ahLst/>
            <a:cxnLst/>
            <a:rect l="l" t="t" r="r" b="b"/>
            <a:pathLst>
              <a:path w="1598805" h="2704128">
                <a:moveTo>
                  <a:pt x="0" y="0"/>
                </a:moveTo>
                <a:lnTo>
                  <a:pt x="1598805" y="0"/>
                </a:lnTo>
                <a:lnTo>
                  <a:pt x="1598805" y="2704128"/>
                </a:lnTo>
                <a:lnTo>
                  <a:pt x="0" y="27041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5413755" y="-1026735"/>
            <a:ext cx="1875473" cy="1875472"/>
          </a:xfrm>
          <a:custGeom>
            <a:avLst/>
            <a:gdLst/>
            <a:ahLst/>
            <a:cxnLst/>
            <a:rect l="l" t="t" r="r" b="b"/>
            <a:pathLst>
              <a:path w="1875473" h="1875472">
                <a:moveTo>
                  <a:pt x="0" y="0"/>
                </a:moveTo>
                <a:lnTo>
                  <a:pt x="1875473" y="0"/>
                </a:lnTo>
                <a:lnTo>
                  <a:pt x="1875473" y="1875473"/>
                </a:lnTo>
                <a:lnTo>
                  <a:pt x="0" y="1875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7350264" y="368202"/>
            <a:ext cx="1875472" cy="1875472"/>
          </a:xfrm>
          <a:custGeom>
            <a:avLst/>
            <a:gdLst/>
            <a:ahLst/>
            <a:cxnLst/>
            <a:rect l="l" t="t" r="r" b="b"/>
            <a:pathLst>
              <a:path w="1875472" h="1875472">
                <a:moveTo>
                  <a:pt x="0" y="0"/>
                </a:moveTo>
                <a:lnTo>
                  <a:pt x="1875472" y="0"/>
                </a:lnTo>
                <a:lnTo>
                  <a:pt x="1875472" y="1875472"/>
                </a:lnTo>
                <a:lnTo>
                  <a:pt x="0" y="1875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2084" y="8298035"/>
            <a:ext cx="473931" cy="4739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640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34053" y="2509900"/>
            <a:ext cx="636919" cy="6369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34053" y="3737642"/>
            <a:ext cx="636919" cy="63691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34053" y="4965111"/>
            <a:ext cx="636919" cy="6369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34053" y="6150065"/>
            <a:ext cx="636919" cy="63691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17407" y="4374561"/>
            <a:ext cx="7792696" cy="3710657"/>
            <a:chOff x="0" y="0"/>
            <a:chExt cx="1207293" cy="57487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07292" cy="574878"/>
            </a:xfrm>
            <a:custGeom>
              <a:avLst/>
              <a:gdLst/>
              <a:ahLst/>
              <a:cxnLst/>
              <a:rect l="l" t="t" r="r" b="b"/>
              <a:pathLst>
                <a:path w="1207292" h="574878">
                  <a:moveTo>
                    <a:pt x="0" y="0"/>
                  </a:moveTo>
                  <a:lnTo>
                    <a:pt x="1207292" y="0"/>
                  </a:lnTo>
                  <a:lnTo>
                    <a:pt x="1207292" y="574878"/>
                  </a:lnTo>
                  <a:lnTo>
                    <a:pt x="0" y="574878"/>
                  </a:lnTo>
                  <a:close/>
                </a:path>
              </a:pathLst>
            </a:custGeom>
            <a:blipFill>
              <a:blip r:embed="rId2"/>
              <a:stretch>
                <a:fillRect t="-8" b="-8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10607967" y="2675813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1517407" y="1305938"/>
            <a:ext cx="7058698" cy="1972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4"/>
              </a:lnSpc>
            </a:pPr>
            <a:r>
              <a:rPr lang="en-US" sz="6795" b="1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41945" y="8316560"/>
            <a:ext cx="3990353" cy="32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83"/>
              </a:lnSpc>
            </a:pPr>
            <a:r>
              <a:rPr lang="en-US" sz="1845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www.farmverse.com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98937" y="3510947"/>
            <a:ext cx="5476369" cy="332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1"/>
              </a:lnSpc>
              <a:spcBef>
                <a:spcPct val="0"/>
              </a:spcBef>
            </a:pPr>
            <a:r>
              <a:rPr lang="en-US" sz="1908" b="1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Introducing FarmVerse – The Smart Answer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89432" y="2639448"/>
            <a:ext cx="5311201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Centralized web dashboard for intuitive farm management.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89432" y="3830366"/>
            <a:ext cx="4281960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Digitally manage farms, crops, irrigation, soil, and weather.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89432" y="5094658"/>
            <a:ext cx="4281960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No hardware sensors—uses manual and simulated data.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89432" y="6219657"/>
            <a:ext cx="4281960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Affordable and user-friendly for small and medium farms.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607967" y="3916712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2"/>
                </a:lnTo>
                <a:lnTo>
                  <a:pt x="0" y="28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0607967" y="5157610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0607967" y="6304928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 rot="544538" flipH="1">
            <a:off x="15163958" y="7083755"/>
            <a:ext cx="3262161" cy="5517434"/>
          </a:xfrm>
          <a:custGeom>
            <a:avLst/>
            <a:gdLst/>
            <a:ahLst/>
            <a:cxnLst/>
            <a:rect l="l" t="t" r="r" b="b"/>
            <a:pathLst>
              <a:path w="3262161" h="5517434">
                <a:moveTo>
                  <a:pt x="3262161" y="0"/>
                </a:moveTo>
                <a:lnTo>
                  <a:pt x="0" y="0"/>
                </a:lnTo>
                <a:lnTo>
                  <a:pt x="0" y="5517434"/>
                </a:lnTo>
                <a:lnTo>
                  <a:pt x="3262161" y="5517434"/>
                </a:lnTo>
                <a:lnTo>
                  <a:pt x="326216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077195" y="8771966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9" y="0"/>
                </a:lnTo>
                <a:lnTo>
                  <a:pt x="3639729" y="3639728"/>
                </a:lnTo>
                <a:lnTo>
                  <a:pt x="0" y="363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-570105" y="1410672"/>
            <a:ext cx="1598805" cy="2704128"/>
          </a:xfrm>
          <a:custGeom>
            <a:avLst/>
            <a:gdLst/>
            <a:ahLst/>
            <a:cxnLst/>
            <a:rect l="l" t="t" r="r" b="b"/>
            <a:pathLst>
              <a:path w="1598805" h="2704128">
                <a:moveTo>
                  <a:pt x="0" y="0"/>
                </a:moveTo>
                <a:lnTo>
                  <a:pt x="1598805" y="0"/>
                </a:lnTo>
                <a:lnTo>
                  <a:pt x="1598805" y="2704128"/>
                </a:lnTo>
                <a:lnTo>
                  <a:pt x="0" y="27041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5413755" y="-1026735"/>
            <a:ext cx="1875473" cy="1875472"/>
          </a:xfrm>
          <a:custGeom>
            <a:avLst/>
            <a:gdLst/>
            <a:ahLst/>
            <a:cxnLst/>
            <a:rect l="l" t="t" r="r" b="b"/>
            <a:pathLst>
              <a:path w="1875473" h="1875472">
                <a:moveTo>
                  <a:pt x="0" y="0"/>
                </a:moveTo>
                <a:lnTo>
                  <a:pt x="1875473" y="0"/>
                </a:lnTo>
                <a:lnTo>
                  <a:pt x="1875473" y="1875473"/>
                </a:lnTo>
                <a:lnTo>
                  <a:pt x="0" y="1875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7350264" y="368202"/>
            <a:ext cx="1875472" cy="1875472"/>
          </a:xfrm>
          <a:custGeom>
            <a:avLst/>
            <a:gdLst/>
            <a:ahLst/>
            <a:cxnLst/>
            <a:rect l="l" t="t" r="r" b="b"/>
            <a:pathLst>
              <a:path w="1875472" h="1875472">
                <a:moveTo>
                  <a:pt x="0" y="0"/>
                </a:moveTo>
                <a:lnTo>
                  <a:pt x="1875472" y="0"/>
                </a:lnTo>
                <a:lnTo>
                  <a:pt x="1875472" y="1875472"/>
                </a:lnTo>
                <a:lnTo>
                  <a:pt x="0" y="1875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8052" flipH="1">
            <a:off x="10480909" y="5161101"/>
            <a:ext cx="3262161" cy="5517434"/>
          </a:xfrm>
          <a:custGeom>
            <a:avLst/>
            <a:gdLst/>
            <a:ahLst/>
            <a:cxnLst/>
            <a:rect l="l" t="t" r="r" b="b"/>
            <a:pathLst>
              <a:path w="3262161" h="5517434">
                <a:moveTo>
                  <a:pt x="3262161" y="0"/>
                </a:moveTo>
                <a:lnTo>
                  <a:pt x="0" y="0"/>
                </a:lnTo>
                <a:lnTo>
                  <a:pt x="0" y="5517434"/>
                </a:lnTo>
                <a:lnTo>
                  <a:pt x="3262161" y="5517434"/>
                </a:lnTo>
                <a:lnTo>
                  <a:pt x="326216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16292" y="-405158"/>
            <a:ext cx="6139106" cy="11106862"/>
            <a:chOff x="0" y="0"/>
            <a:chExt cx="951108" cy="17207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1108" cy="1720744"/>
            </a:xfrm>
            <a:custGeom>
              <a:avLst/>
              <a:gdLst/>
              <a:ahLst/>
              <a:cxnLst/>
              <a:rect l="l" t="t" r="r" b="b"/>
              <a:pathLst>
                <a:path w="951108" h="1720744">
                  <a:moveTo>
                    <a:pt x="63054" y="0"/>
                  </a:moveTo>
                  <a:lnTo>
                    <a:pt x="888054" y="0"/>
                  </a:lnTo>
                  <a:cubicBezTo>
                    <a:pt x="904777" y="0"/>
                    <a:pt x="920815" y="6643"/>
                    <a:pt x="932640" y="18468"/>
                  </a:cubicBezTo>
                  <a:cubicBezTo>
                    <a:pt x="944465" y="30293"/>
                    <a:pt x="951108" y="46331"/>
                    <a:pt x="951108" y="63054"/>
                  </a:cubicBezTo>
                  <a:lnTo>
                    <a:pt x="951108" y="1657690"/>
                  </a:lnTo>
                  <a:cubicBezTo>
                    <a:pt x="951108" y="1692513"/>
                    <a:pt x="922878" y="1720744"/>
                    <a:pt x="888054" y="1720744"/>
                  </a:cubicBezTo>
                  <a:lnTo>
                    <a:pt x="63054" y="1720744"/>
                  </a:lnTo>
                  <a:cubicBezTo>
                    <a:pt x="28230" y="1720744"/>
                    <a:pt x="0" y="1692513"/>
                    <a:pt x="0" y="1657690"/>
                  </a:cubicBezTo>
                  <a:lnTo>
                    <a:pt x="0" y="63054"/>
                  </a:lnTo>
                  <a:cubicBezTo>
                    <a:pt x="0" y="28230"/>
                    <a:pt x="28230" y="0"/>
                    <a:pt x="63054" y="0"/>
                  </a:cubicBezTo>
                  <a:close/>
                </a:path>
              </a:pathLst>
            </a:custGeom>
            <a:blipFill>
              <a:blip r:embed="rId3"/>
              <a:stretch>
                <a:fillRect l="-92" r="-92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535550" y="6819363"/>
            <a:ext cx="6658648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</a:pPr>
            <a:r>
              <a:rPr lang="en-US" sz="6800" b="1">
                <a:solidFill>
                  <a:srgbClr val="5B811F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30906" y="3591556"/>
            <a:ext cx="3739123" cy="106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Improve crop management and track irrigation schedules.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94198" y="3415344"/>
            <a:ext cx="3064506" cy="1416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Generate reports, analytics, and secure multi-user role support.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30906" y="1759177"/>
            <a:ext cx="3552374" cy="106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Efficiently manage farm operations via digital records and data insights.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94198" y="1759177"/>
            <a:ext cx="3917791" cy="106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Reduce manual paperwork and maintain digital farm records.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35550" y="6104339"/>
            <a:ext cx="4829903" cy="42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b="1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&amp; Secondary Goals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927287" y="1816327"/>
            <a:ext cx="636919" cy="6369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27287" y="3665837"/>
            <a:ext cx="636919" cy="63691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85842" y="3489624"/>
            <a:ext cx="636919" cy="63691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85842" y="1799493"/>
            <a:ext cx="636919" cy="63691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7459755" y="1967140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3" y="0"/>
                </a:lnTo>
                <a:lnTo>
                  <a:pt x="289093" y="289092"/>
                </a:lnTo>
                <a:lnTo>
                  <a:pt x="0" y="28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7489122" y="3665837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3" y="0"/>
                </a:lnTo>
                <a:lnTo>
                  <a:pt x="289093" y="289092"/>
                </a:lnTo>
                <a:lnTo>
                  <a:pt x="0" y="28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2101200" y="1998806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3" y="0"/>
                </a:lnTo>
                <a:lnTo>
                  <a:pt x="289093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2122714" y="3839750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7748848" y="8881839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8" y="0"/>
                </a:lnTo>
                <a:lnTo>
                  <a:pt x="3639728" y="3639729"/>
                </a:lnTo>
                <a:lnTo>
                  <a:pt x="0" y="3639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892374">
            <a:off x="-765577" y="1242043"/>
            <a:ext cx="1870504" cy="3163665"/>
          </a:xfrm>
          <a:custGeom>
            <a:avLst/>
            <a:gdLst/>
            <a:ahLst/>
            <a:cxnLst/>
            <a:rect l="l" t="t" r="r" b="b"/>
            <a:pathLst>
              <a:path w="1870504" h="3163665">
                <a:moveTo>
                  <a:pt x="0" y="0"/>
                </a:moveTo>
                <a:lnTo>
                  <a:pt x="1870504" y="0"/>
                </a:lnTo>
                <a:lnTo>
                  <a:pt x="1870504" y="3163665"/>
                </a:lnTo>
                <a:lnTo>
                  <a:pt x="0" y="31636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5413755" y="-1026735"/>
            <a:ext cx="1875473" cy="1875472"/>
          </a:xfrm>
          <a:custGeom>
            <a:avLst/>
            <a:gdLst/>
            <a:ahLst/>
            <a:cxnLst/>
            <a:rect l="l" t="t" r="r" b="b"/>
            <a:pathLst>
              <a:path w="1875473" h="1875472">
                <a:moveTo>
                  <a:pt x="0" y="0"/>
                </a:moveTo>
                <a:lnTo>
                  <a:pt x="1875473" y="0"/>
                </a:lnTo>
                <a:lnTo>
                  <a:pt x="1875473" y="1875473"/>
                </a:lnTo>
                <a:lnTo>
                  <a:pt x="0" y="1875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8052" flipH="1">
            <a:off x="11198361" y="2395619"/>
            <a:ext cx="2542260" cy="4299834"/>
          </a:xfrm>
          <a:custGeom>
            <a:avLst/>
            <a:gdLst/>
            <a:ahLst/>
            <a:cxnLst/>
            <a:rect l="l" t="t" r="r" b="b"/>
            <a:pathLst>
              <a:path w="2542260" h="4299834">
                <a:moveTo>
                  <a:pt x="2542260" y="0"/>
                </a:moveTo>
                <a:lnTo>
                  <a:pt x="0" y="0"/>
                </a:lnTo>
                <a:lnTo>
                  <a:pt x="0" y="4299834"/>
                </a:lnTo>
                <a:lnTo>
                  <a:pt x="2542260" y="4299834"/>
                </a:lnTo>
                <a:lnTo>
                  <a:pt x="25422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16292" y="-338565"/>
            <a:ext cx="6139106" cy="11040268"/>
            <a:chOff x="0" y="0"/>
            <a:chExt cx="951108" cy="17104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1108" cy="1710426"/>
            </a:xfrm>
            <a:custGeom>
              <a:avLst/>
              <a:gdLst/>
              <a:ahLst/>
              <a:cxnLst/>
              <a:rect l="l" t="t" r="r" b="b"/>
              <a:pathLst>
                <a:path w="951108" h="1710426">
                  <a:moveTo>
                    <a:pt x="63054" y="0"/>
                  </a:moveTo>
                  <a:lnTo>
                    <a:pt x="888054" y="0"/>
                  </a:lnTo>
                  <a:cubicBezTo>
                    <a:pt x="904777" y="0"/>
                    <a:pt x="920815" y="6643"/>
                    <a:pt x="932640" y="18468"/>
                  </a:cubicBezTo>
                  <a:cubicBezTo>
                    <a:pt x="944465" y="30293"/>
                    <a:pt x="951108" y="46331"/>
                    <a:pt x="951108" y="63054"/>
                  </a:cubicBezTo>
                  <a:lnTo>
                    <a:pt x="951108" y="1647372"/>
                  </a:lnTo>
                  <a:cubicBezTo>
                    <a:pt x="951108" y="1682196"/>
                    <a:pt x="922878" y="1710426"/>
                    <a:pt x="888054" y="1710426"/>
                  </a:cubicBezTo>
                  <a:lnTo>
                    <a:pt x="63054" y="1710426"/>
                  </a:lnTo>
                  <a:cubicBezTo>
                    <a:pt x="28230" y="1710426"/>
                    <a:pt x="0" y="1682196"/>
                    <a:pt x="0" y="1647372"/>
                  </a:cubicBezTo>
                  <a:lnTo>
                    <a:pt x="0" y="63054"/>
                  </a:lnTo>
                  <a:cubicBezTo>
                    <a:pt x="0" y="28230"/>
                    <a:pt x="28230" y="0"/>
                    <a:pt x="63054" y="0"/>
                  </a:cubicBezTo>
                  <a:close/>
                </a:path>
              </a:pathLst>
            </a:custGeom>
            <a:blipFill>
              <a:blip r:embed="rId3"/>
              <a:stretch>
                <a:fillRect t="-209" b="-209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2787218" y="7344906"/>
            <a:ext cx="3552374" cy="46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74"/>
              </a:lnSpc>
            </a:pPr>
            <a:r>
              <a:rPr lang="en-US" sz="1339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Includes: Irrigation Scheduling, Weather &amp; Notifications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51213" y="7568006"/>
            <a:ext cx="3552374" cy="46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74"/>
              </a:lnSpc>
            </a:pPr>
            <a:r>
              <a:rPr lang="en-US" sz="1339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Excludes: IoT Sensors, Drones &amp; Real-time Automation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87218" y="5605620"/>
            <a:ext cx="3552374" cy="46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74"/>
              </a:lnSpc>
            </a:pPr>
            <a:r>
              <a:rPr lang="en-US" sz="1339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Includes: User Registration, Login &amp; Farmer 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71364" y="5781833"/>
            <a:ext cx="3552374" cy="232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74"/>
              </a:lnSpc>
            </a:pPr>
            <a:r>
              <a:rPr lang="en-US" sz="1339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Includes: Farm, Crop &amp; Soil Management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4042" y="2289134"/>
            <a:ext cx="7399958" cy="2105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4"/>
              </a:lnSpc>
            </a:pPr>
            <a:r>
              <a:rPr lang="en-US" sz="6795" b="1">
                <a:solidFill>
                  <a:srgbClr val="5B811F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FarmVerse Covers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36031" y="1565051"/>
            <a:ext cx="4974118" cy="42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b="1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Scope of the Project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21674" y="7438458"/>
            <a:ext cx="636919" cy="6369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21674" y="5660851"/>
            <a:ext cx="636919" cy="63691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85842" y="5643720"/>
            <a:ext cx="636919" cy="63691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85842" y="7438458"/>
            <a:ext cx="636919" cy="63691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7459755" y="5772080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3" y="0"/>
                </a:lnTo>
                <a:lnTo>
                  <a:pt x="289093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7459755" y="7606106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3" y="0"/>
                </a:lnTo>
                <a:lnTo>
                  <a:pt x="289093" y="289092"/>
                </a:lnTo>
                <a:lnTo>
                  <a:pt x="0" y="28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1895587" y="5834764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3" y="0"/>
                </a:lnTo>
                <a:lnTo>
                  <a:pt x="289093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1888526" y="7606106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2"/>
                </a:lnTo>
                <a:lnTo>
                  <a:pt x="0" y="28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8876564" y="8881839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8" y="0"/>
                </a:lnTo>
                <a:lnTo>
                  <a:pt x="3639728" y="3639729"/>
                </a:lnTo>
                <a:lnTo>
                  <a:pt x="0" y="3639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892374">
            <a:off x="-497732" y="451151"/>
            <a:ext cx="1396021" cy="2361152"/>
          </a:xfrm>
          <a:custGeom>
            <a:avLst/>
            <a:gdLst/>
            <a:ahLst/>
            <a:cxnLst/>
            <a:rect l="l" t="t" r="r" b="b"/>
            <a:pathLst>
              <a:path w="1396021" h="2361152">
                <a:moveTo>
                  <a:pt x="0" y="0"/>
                </a:moveTo>
                <a:lnTo>
                  <a:pt x="1396022" y="0"/>
                </a:lnTo>
                <a:lnTo>
                  <a:pt x="1396022" y="2361151"/>
                </a:lnTo>
                <a:lnTo>
                  <a:pt x="0" y="2361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5413755" y="-1026735"/>
            <a:ext cx="1875473" cy="1875472"/>
          </a:xfrm>
          <a:custGeom>
            <a:avLst/>
            <a:gdLst/>
            <a:ahLst/>
            <a:cxnLst/>
            <a:rect l="l" t="t" r="r" b="b"/>
            <a:pathLst>
              <a:path w="1875473" h="1875472">
                <a:moveTo>
                  <a:pt x="0" y="0"/>
                </a:moveTo>
                <a:lnTo>
                  <a:pt x="1875473" y="0"/>
                </a:lnTo>
                <a:lnTo>
                  <a:pt x="1875473" y="1875473"/>
                </a:lnTo>
                <a:lnTo>
                  <a:pt x="0" y="1875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-1106299" y="7895198"/>
            <a:ext cx="1875472" cy="1875472"/>
          </a:xfrm>
          <a:custGeom>
            <a:avLst/>
            <a:gdLst/>
            <a:ahLst/>
            <a:cxnLst/>
            <a:rect l="l" t="t" r="r" b="b"/>
            <a:pathLst>
              <a:path w="1875472" h="1875472">
                <a:moveTo>
                  <a:pt x="0" y="0"/>
                </a:moveTo>
                <a:lnTo>
                  <a:pt x="1875473" y="0"/>
                </a:lnTo>
                <a:lnTo>
                  <a:pt x="1875473" y="1875473"/>
                </a:lnTo>
                <a:lnTo>
                  <a:pt x="0" y="1875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68258" y="1400333"/>
            <a:ext cx="4076057" cy="7486334"/>
            <a:chOff x="0" y="0"/>
            <a:chExt cx="631488" cy="11598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1488" cy="1159829"/>
            </a:xfrm>
            <a:custGeom>
              <a:avLst/>
              <a:gdLst/>
              <a:ahLst/>
              <a:cxnLst/>
              <a:rect l="l" t="t" r="r" b="b"/>
              <a:pathLst>
                <a:path w="631488" h="1159829">
                  <a:moveTo>
                    <a:pt x="66478" y="0"/>
                  </a:moveTo>
                  <a:lnTo>
                    <a:pt x="565010" y="0"/>
                  </a:lnTo>
                  <a:cubicBezTo>
                    <a:pt x="601725" y="0"/>
                    <a:pt x="631488" y="29763"/>
                    <a:pt x="631488" y="66478"/>
                  </a:cubicBezTo>
                  <a:lnTo>
                    <a:pt x="631488" y="1093351"/>
                  </a:lnTo>
                  <a:cubicBezTo>
                    <a:pt x="631488" y="1130066"/>
                    <a:pt x="601725" y="1159829"/>
                    <a:pt x="565010" y="1159829"/>
                  </a:cubicBezTo>
                  <a:lnTo>
                    <a:pt x="66478" y="1159829"/>
                  </a:lnTo>
                  <a:cubicBezTo>
                    <a:pt x="29763" y="1159829"/>
                    <a:pt x="0" y="1130066"/>
                    <a:pt x="0" y="1093351"/>
                  </a:cubicBezTo>
                  <a:lnTo>
                    <a:pt x="0" y="66478"/>
                  </a:lnTo>
                  <a:cubicBezTo>
                    <a:pt x="0" y="29763"/>
                    <a:pt x="29763" y="0"/>
                    <a:pt x="66478" y="0"/>
                  </a:cubicBezTo>
                  <a:close/>
                </a:path>
              </a:pathLst>
            </a:custGeom>
            <a:blipFill>
              <a:blip r:embed="rId2"/>
              <a:stretch>
                <a:fillRect l="-393" r="-39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878052" flipH="1">
            <a:off x="17153775" y="835099"/>
            <a:ext cx="2675978" cy="4525997"/>
          </a:xfrm>
          <a:custGeom>
            <a:avLst/>
            <a:gdLst/>
            <a:ahLst/>
            <a:cxnLst/>
            <a:rect l="l" t="t" r="r" b="b"/>
            <a:pathLst>
              <a:path w="2675978" h="4525997">
                <a:moveTo>
                  <a:pt x="2675978" y="0"/>
                </a:moveTo>
                <a:lnTo>
                  <a:pt x="0" y="0"/>
                </a:lnTo>
                <a:lnTo>
                  <a:pt x="0" y="4525997"/>
                </a:lnTo>
                <a:lnTo>
                  <a:pt x="2675978" y="4525997"/>
                </a:lnTo>
                <a:lnTo>
                  <a:pt x="267597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83827" y="6277716"/>
            <a:ext cx="1875472" cy="1875473"/>
          </a:xfrm>
          <a:custGeom>
            <a:avLst/>
            <a:gdLst/>
            <a:ahLst/>
            <a:cxnLst/>
            <a:rect l="l" t="t" r="r" b="b"/>
            <a:pathLst>
              <a:path w="1875472" h="1875473">
                <a:moveTo>
                  <a:pt x="0" y="0"/>
                </a:moveTo>
                <a:lnTo>
                  <a:pt x="1875473" y="0"/>
                </a:lnTo>
                <a:lnTo>
                  <a:pt x="1875473" y="1875472"/>
                </a:lnTo>
                <a:lnTo>
                  <a:pt x="0" y="1875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272427" y="1400333"/>
            <a:ext cx="4076057" cy="7486334"/>
            <a:chOff x="0" y="0"/>
            <a:chExt cx="631488" cy="11598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1488" cy="1159829"/>
            </a:xfrm>
            <a:custGeom>
              <a:avLst/>
              <a:gdLst/>
              <a:ahLst/>
              <a:cxnLst/>
              <a:rect l="l" t="t" r="r" b="b"/>
              <a:pathLst>
                <a:path w="631488" h="1159829">
                  <a:moveTo>
                    <a:pt x="66478" y="0"/>
                  </a:moveTo>
                  <a:lnTo>
                    <a:pt x="565010" y="0"/>
                  </a:lnTo>
                  <a:cubicBezTo>
                    <a:pt x="601725" y="0"/>
                    <a:pt x="631488" y="29763"/>
                    <a:pt x="631488" y="66478"/>
                  </a:cubicBezTo>
                  <a:lnTo>
                    <a:pt x="631488" y="1093351"/>
                  </a:lnTo>
                  <a:cubicBezTo>
                    <a:pt x="631488" y="1130066"/>
                    <a:pt x="601725" y="1159829"/>
                    <a:pt x="565010" y="1159829"/>
                  </a:cubicBezTo>
                  <a:lnTo>
                    <a:pt x="66478" y="1159829"/>
                  </a:lnTo>
                  <a:cubicBezTo>
                    <a:pt x="29763" y="1159829"/>
                    <a:pt x="0" y="1130066"/>
                    <a:pt x="0" y="1093351"/>
                  </a:cubicBezTo>
                  <a:lnTo>
                    <a:pt x="0" y="66478"/>
                  </a:lnTo>
                  <a:cubicBezTo>
                    <a:pt x="0" y="29763"/>
                    <a:pt x="29763" y="0"/>
                    <a:pt x="66478" y="0"/>
                  </a:cubicBezTo>
                  <a:close/>
                </a:path>
              </a:pathLst>
            </a:custGeom>
            <a:blipFill>
              <a:blip r:embed="rId5"/>
              <a:stretch>
                <a:fillRect l="-161110" r="-1611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433554" y="2312071"/>
            <a:ext cx="5906079" cy="2315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56"/>
              </a:lnSpc>
            </a:pPr>
            <a:r>
              <a:rPr lang="en-US" sz="5656" spc="-311">
                <a:solidFill>
                  <a:srgbClr val="5B81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Powerful Features for Modern Farming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3554" y="5418492"/>
            <a:ext cx="5676602" cy="1768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Digitally manage multiple farms, monitor crops from seed to harvest, schedule smart irrigation, track fertilizers, generate analytics reports, and protect your data with role-based access and encryption.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3554" y="1544356"/>
            <a:ext cx="4361213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</a:pPr>
            <a:r>
              <a:rPr lang="en-US" sz="2398" b="1">
                <a:solidFill>
                  <a:srgbClr val="5B811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Key Features of FarmVerse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794296" y="9062434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9" y="0"/>
                </a:lnTo>
                <a:lnTo>
                  <a:pt x="3639729" y="3639729"/>
                </a:lnTo>
                <a:lnTo>
                  <a:pt x="0" y="3639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892374">
            <a:off x="-744356" y="3163180"/>
            <a:ext cx="1457358" cy="2464893"/>
          </a:xfrm>
          <a:custGeom>
            <a:avLst/>
            <a:gdLst/>
            <a:ahLst/>
            <a:cxnLst/>
            <a:rect l="l" t="t" r="r" b="b"/>
            <a:pathLst>
              <a:path w="1457358" h="2464893">
                <a:moveTo>
                  <a:pt x="0" y="0"/>
                </a:moveTo>
                <a:lnTo>
                  <a:pt x="1457359" y="0"/>
                </a:lnTo>
                <a:lnTo>
                  <a:pt x="1457359" y="2464893"/>
                </a:lnTo>
                <a:lnTo>
                  <a:pt x="0" y="2464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275152" y="-1246553"/>
            <a:ext cx="2493106" cy="2493106"/>
          </a:xfrm>
          <a:custGeom>
            <a:avLst/>
            <a:gdLst/>
            <a:ahLst/>
            <a:cxnLst/>
            <a:rect l="l" t="t" r="r" b="b"/>
            <a:pathLst>
              <a:path w="2493106" h="2493106">
                <a:moveTo>
                  <a:pt x="0" y="0"/>
                </a:moveTo>
                <a:lnTo>
                  <a:pt x="2493106" y="0"/>
                </a:lnTo>
                <a:lnTo>
                  <a:pt x="2493106" y="2493106"/>
                </a:lnTo>
                <a:lnTo>
                  <a:pt x="0" y="24931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3774" y="5946357"/>
            <a:ext cx="7622639" cy="3533613"/>
            <a:chOff x="0" y="0"/>
            <a:chExt cx="1180946" cy="5474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0946" cy="547449"/>
            </a:xfrm>
            <a:custGeom>
              <a:avLst/>
              <a:gdLst/>
              <a:ahLst/>
              <a:cxnLst/>
              <a:rect l="l" t="t" r="r" b="b"/>
              <a:pathLst>
                <a:path w="1180946" h="547449">
                  <a:moveTo>
                    <a:pt x="35548" y="0"/>
                  </a:moveTo>
                  <a:lnTo>
                    <a:pt x="1145398" y="0"/>
                  </a:lnTo>
                  <a:cubicBezTo>
                    <a:pt x="1165031" y="0"/>
                    <a:pt x="1180946" y="15915"/>
                    <a:pt x="1180946" y="35548"/>
                  </a:cubicBezTo>
                  <a:lnTo>
                    <a:pt x="1180946" y="511901"/>
                  </a:lnTo>
                  <a:cubicBezTo>
                    <a:pt x="1180946" y="521329"/>
                    <a:pt x="1177201" y="530371"/>
                    <a:pt x="1170535" y="537037"/>
                  </a:cubicBezTo>
                  <a:cubicBezTo>
                    <a:pt x="1163868" y="543704"/>
                    <a:pt x="1154826" y="547449"/>
                    <a:pt x="1145398" y="547449"/>
                  </a:cubicBezTo>
                  <a:lnTo>
                    <a:pt x="35548" y="547449"/>
                  </a:lnTo>
                  <a:cubicBezTo>
                    <a:pt x="15915" y="547449"/>
                    <a:pt x="0" y="531534"/>
                    <a:pt x="0" y="511901"/>
                  </a:cubicBezTo>
                  <a:lnTo>
                    <a:pt x="0" y="35548"/>
                  </a:lnTo>
                  <a:cubicBezTo>
                    <a:pt x="0" y="15915"/>
                    <a:pt x="15915" y="0"/>
                    <a:pt x="35548" y="0"/>
                  </a:cubicBezTo>
                  <a:close/>
                </a:path>
              </a:pathLst>
            </a:custGeom>
            <a:blipFill>
              <a:blip r:embed="rId2"/>
              <a:stretch>
                <a:fillRect t="-424" b="-42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68258" y="5946357"/>
            <a:ext cx="8580225" cy="3533613"/>
            <a:chOff x="0" y="0"/>
            <a:chExt cx="1329301" cy="5474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29301" cy="547449"/>
            </a:xfrm>
            <a:custGeom>
              <a:avLst/>
              <a:gdLst/>
              <a:ahLst/>
              <a:cxnLst/>
              <a:rect l="l" t="t" r="r" b="b"/>
              <a:pathLst>
                <a:path w="1329301" h="547449">
                  <a:moveTo>
                    <a:pt x="31580" y="0"/>
                  </a:moveTo>
                  <a:lnTo>
                    <a:pt x="1297721" y="0"/>
                  </a:lnTo>
                  <a:cubicBezTo>
                    <a:pt x="1306097" y="0"/>
                    <a:pt x="1314129" y="3327"/>
                    <a:pt x="1320052" y="9250"/>
                  </a:cubicBezTo>
                  <a:cubicBezTo>
                    <a:pt x="1325974" y="15172"/>
                    <a:pt x="1329301" y="23205"/>
                    <a:pt x="1329301" y="31580"/>
                  </a:cubicBezTo>
                  <a:lnTo>
                    <a:pt x="1329301" y="515869"/>
                  </a:lnTo>
                  <a:cubicBezTo>
                    <a:pt x="1329301" y="533310"/>
                    <a:pt x="1315162" y="547449"/>
                    <a:pt x="1297721" y="547449"/>
                  </a:cubicBezTo>
                  <a:lnTo>
                    <a:pt x="31580" y="547449"/>
                  </a:lnTo>
                  <a:cubicBezTo>
                    <a:pt x="14139" y="547449"/>
                    <a:pt x="0" y="533310"/>
                    <a:pt x="0" y="515869"/>
                  </a:cubicBezTo>
                  <a:lnTo>
                    <a:pt x="0" y="31580"/>
                  </a:lnTo>
                  <a:cubicBezTo>
                    <a:pt x="0" y="14139"/>
                    <a:pt x="14139" y="0"/>
                    <a:pt x="31580" y="0"/>
                  </a:cubicBezTo>
                  <a:close/>
                </a:path>
              </a:pathLst>
            </a:custGeom>
            <a:blipFill>
              <a:blip r:embed="rId3"/>
              <a:stretch>
                <a:fillRect t="-4398" b="-439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369191" y="2159945"/>
            <a:ext cx="8225902" cy="1495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4"/>
              </a:lnSpc>
            </a:pPr>
            <a:r>
              <a:rPr lang="en-US" sz="5264" spc="-289">
                <a:solidFill>
                  <a:srgbClr val="5B81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Precision Tools for Smarter Farming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26635" y="3019417"/>
            <a:ext cx="5748568" cy="79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7"/>
              </a:lnSpc>
            </a:pPr>
            <a:r>
              <a:rPr lang="en-US" sz="1548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Farm Management, Crop Monitoring, Irrigation Scheduling, Fertilizer Tracking, Reports &amp; Analytics, and Smart Notifications — all in one unified platform.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26635" y="1971350"/>
            <a:ext cx="5156639" cy="31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01"/>
              </a:lnSpc>
            </a:pPr>
            <a:r>
              <a:rPr lang="en-US" sz="1858" b="1">
                <a:solidFill>
                  <a:srgbClr val="5B811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Specialized Modules for Digital Workflows</a:t>
            </a:r>
          </a:p>
        </p:txBody>
      </p:sp>
      <p:sp>
        <p:nvSpPr>
          <p:cNvPr id="9" name="Freeform 9"/>
          <p:cNvSpPr/>
          <p:nvPr/>
        </p:nvSpPr>
        <p:spPr>
          <a:xfrm rot="6361967">
            <a:off x="12842712" y="-1952450"/>
            <a:ext cx="2416320" cy="4086827"/>
          </a:xfrm>
          <a:custGeom>
            <a:avLst/>
            <a:gdLst/>
            <a:ahLst/>
            <a:cxnLst/>
            <a:rect l="l" t="t" r="r" b="b"/>
            <a:pathLst>
              <a:path w="2416320" h="4086827">
                <a:moveTo>
                  <a:pt x="0" y="0"/>
                </a:moveTo>
                <a:lnTo>
                  <a:pt x="2416320" y="0"/>
                </a:lnTo>
                <a:lnTo>
                  <a:pt x="2416320" y="4086827"/>
                </a:lnTo>
                <a:lnTo>
                  <a:pt x="0" y="40868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929508" y="3323636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9" y="0"/>
                </a:lnTo>
                <a:lnTo>
                  <a:pt x="3639729" y="3639728"/>
                </a:lnTo>
                <a:lnTo>
                  <a:pt x="0" y="363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82328" y="529693"/>
            <a:ext cx="1218119" cy="2060258"/>
          </a:xfrm>
          <a:custGeom>
            <a:avLst/>
            <a:gdLst/>
            <a:ahLst/>
            <a:cxnLst/>
            <a:rect l="l" t="t" r="r" b="b"/>
            <a:pathLst>
              <a:path w="1218119" h="2060258">
                <a:moveTo>
                  <a:pt x="0" y="0"/>
                </a:moveTo>
                <a:lnTo>
                  <a:pt x="1218119" y="0"/>
                </a:lnTo>
                <a:lnTo>
                  <a:pt x="1218119" y="2060257"/>
                </a:lnTo>
                <a:lnTo>
                  <a:pt x="0" y="2060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30522" y="-846772"/>
            <a:ext cx="1875472" cy="1875472"/>
          </a:xfrm>
          <a:custGeom>
            <a:avLst/>
            <a:gdLst/>
            <a:ahLst/>
            <a:cxnLst/>
            <a:rect l="l" t="t" r="r" b="b"/>
            <a:pathLst>
              <a:path w="1875472" h="1875472">
                <a:moveTo>
                  <a:pt x="0" y="0"/>
                </a:moveTo>
                <a:lnTo>
                  <a:pt x="1875473" y="0"/>
                </a:lnTo>
                <a:lnTo>
                  <a:pt x="1875473" y="1875472"/>
                </a:lnTo>
                <a:lnTo>
                  <a:pt x="0" y="1875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68258" y="1400333"/>
            <a:ext cx="4076057" cy="7486334"/>
            <a:chOff x="0" y="0"/>
            <a:chExt cx="631488" cy="11598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1488" cy="1159829"/>
            </a:xfrm>
            <a:custGeom>
              <a:avLst/>
              <a:gdLst/>
              <a:ahLst/>
              <a:cxnLst/>
              <a:rect l="l" t="t" r="r" b="b"/>
              <a:pathLst>
                <a:path w="631488" h="1159829">
                  <a:moveTo>
                    <a:pt x="66478" y="0"/>
                  </a:moveTo>
                  <a:lnTo>
                    <a:pt x="565010" y="0"/>
                  </a:lnTo>
                  <a:cubicBezTo>
                    <a:pt x="601725" y="0"/>
                    <a:pt x="631488" y="29763"/>
                    <a:pt x="631488" y="66478"/>
                  </a:cubicBezTo>
                  <a:lnTo>
                    <a:pt x="631488" y="1093351"/>
                  </a:lnTo>
                  <a:cubicBezTo>
                    <a:pt x="631488" y="1130066"/>
                    <a:pt x="601725" y="1159829"/>
                    <a:pt x="565010" y="1159829"/>
                  </a:cubicBezTo>
                  <a:lnTo>
                    <a:pt x="66478" y="1159829"/>
                  </a:lnTo>
                  <a:cubicBezTo>
                    <a:pt x="29763" y="1159829"/>
                    <a:pt x="0" y="1130066"/>
                    <a:pt x="0" y="1093351"/>
                  </a:cubicBezTo>
                  <a:lnTo>
                    <a:pt x="0" y="66478"/>
                  </a:lnTo>
                  <a:cubicBezTo>
                    <a:pt x="0" y="29763"/>
                    <a:pt x="29763" y="0"/>
                    <a:pt x="66478" y="0"/>
                  </a:cubicBezTo>
                  <a:close/>
                </a:path>
              </a:pathLst>
            </a:custGeom>
            <a:blipFill>
              <a:blip r:embed="rId2"/>
              <a:stretch>
                <a:fillRect l="-190873" r="-19087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6361967">
            <a:off x="14400982" y="5198722"/>
            <a:ext cx="3262161" cy="5517434"/>
          </a:xfrm>
          <a:custGeom>
            <a:avLst/>
            <a:gdLst/>
            <a:ahLst/>
            <a:cxnLst/>
            <a:rect l="l" t="t" r="r" b="b"/>
            <a:pathLst>
              <a:path w="3262161" h="5517434">
                <a:moveTo>
                  <a:pt x="0" y="0"/>
                </a:moveTo>
                <a:lnTo>
                  <a:pt x="3262161" y="0"/>
                </a:lnTo>
                <a:lnTo>
                  <a:pt x="3262161" y="5517434"/>
                </a:lnTo>
                <a:lnTo>
                  <a:pt x="0" y="5517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272427" y="1400333"/>
            <a:ext cx="4076057" cy="7486334"/>
            <a:chOff x="0" y="0"/>
            <a:chExt cx="631488" cy="11598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1488" cy="1159829"/>
            </a:xfrm>
            <a:custGeom>
              <a:avLst/>
              <a:gdLst/>
              <a:ahLst/>
              <a:cxnLst/>
              <a:rect l="l" t="t" r="r" b="b"/>
              <a:pathLst>
                <a:path w="631488" h="1159829">
                  <a:moveTo>
                    <a:pt x="66478" y="0"/>
                  </a:moveTo>
                  <a:lnTo>
                    <a:pt x="565010" y="0"/>
                  </a:lnTo>
                  <a:cubicBezTo>
                    <a:pt x="601725" y="0"/>
                    <a:pt x="631488" y="29763"/>
                    <a:pt x="631488" y="66478"/>
                  </a:cubicBezTo>
                  <a:lnTo>
                    <a:pt x="631488" y="1093351"/>
                  </a:lnTo>
                  <a:cubicBezTo>
                    <a:pt x="631488" y="1130066"/>
                    <a:pt x="601725" y="1159829"/>
                    <a:pt x="565010" y="1159829"/>
                  </a:cubicBezTo>
                  <a:lnTo>
                    <a:pt x="66478" y="1159829"/>
                  </a:lnTo>
                  <a:cubicBezTo>
                    <a:pt x="29763" y="1159829"/>
                    <a:pt x="0" y="1130066"/>
                    <a:pt x="0" y="1093351"/>
                  </a:cubicBezTo>
                  <a:lnTo>
                    <a:pt x="0" y="66478"/>
                  </a:lnTo>
                  <a:cubicBezTo>
                    <a:pt x="0" y="29763"/>
                    <a:pt x="29763" y="0"/>
                    <a:pt x="66478" y="0"/>
                  </a:cubicBezTo>
                  <a:close/>
                </a:path>
              </a:pathLst>
            </a:custGeom>
            <a:blipFill>
              <a:blip r:embed="rId4"/>
              <a:stretch>
                <a:fillRect l="-393" r="-393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939517" y="1596708"/>
            <a:ext cx="5107778" cy="210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22"/>
              </a:lnSpc>
            </a:pPr>
            <a:r>
              <a:rPr lang="en-US" sz="5122" spc="-281">
                <a:solidFill>
                  <a:srgbClr val="5B81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How FarmVerse Works – 5 Simple Steps</a:t>
            </a:r>
          </a:p>
        </p:txBody>
      </p:sp>
      <p:sp>
        <p:nvSpPr>
          <p:cNvPr id="8" name="Freeform 8"/>
          <p:cNvSpPr/>
          <p:nvPr/>
        </p:nvSpPr>
        <p:spPr>
          <a:xfrm>
            <a:off x="16777108" y="-30465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9" y="0"/>
                </a:lnTo>
                <a:lnTo>
                  <a:pt x="3639729" y="3639728"/>
                </a:lnTo>
                <a:lnTo>
                  <a:pt x="0" y="363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9258300"/>
            <a:ext cx="3332076" cy="3332076"/>
          </a:xfrm>
          <a:custGeom>
            <a:avLst/>
            <a:gdLst/>
            <a:ahLst/>
            <a:cxnLst/>
            <a:rect l="l" t="t" r="r" b="b"/>
            <a:pathLst>
              <a:path w="3332076" h="3332076">
                <a:moveTo>
                  <a:pt x="0" y="0"/>
                </a:moveTo>
                <a:lnTo>
                  <a:pt x="3332076" y="0"/>
                </a:lnTo>
                <a:lnTo>
                  <a:pt x="3332076" y="3332076"/>
                </a:lnTo>
                <a:lnTo>
                  <a:pt x="0" y="3332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93342" y="1789399"/>
            <a:ext cx="1525624" cy="2580354"/>
          </a:xfrm>
          <a:custGeom>
            <a:avLst/>
            <a:gdLst/>
            <a:ahLst/>
            <a:cxnLst/>
            <a:rect l="l" t="t" r="r" b="b"/>
            <a:pathLst>
              <a:path w="1525624" h="2580354">
                <a:moveTo>
                  <a:pt x="0" y="0"/>
                </a:moveTo>
                <a:lnTo>
                  <a:pt x="1525624" y="0"/>
                </a:lnTo>
                <a:lnTo>
                  <a:pt x="1525624" y="2580354"/>
                </a:lnTo>
                <a:lnTo>
                  <a:pt x="0" y="2580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39517" y="5595341"/>
            <a:ext cx="4739456" cy="313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4"/>
              </a:lnSpc>
            </a:pPr>
            <a:r>
              <a:rPr lang="en-US" sz="1789">
                <a:solidFill>
                  <a:srgbClr val="5B811F"/>
                </a:solidFill>
                <a:latin typeface="TT Firs Neue"/>
                <a:ea typeface="TT Firs Neue"/>
                <a:cs typeface="TT Firs Neue"/>
                <a:sym typeface="TT Firs Neue"/>
              </a:rPr>
              <a:t>Step 1: Register – Create your account and enter basic details</a:t>
            </a:r>
          </a:p>
          <a:p>
            <a:pPr marL="0" lvl="0" indent="0" algn="l">
              <a:lnSpc>
                <a:spcPts val="2504"/>
              </a:lnSpc>
            </a:pPr>
            <a:r>
              <a:rPr lang="en-US" sz="1789">
                <a:solidFill>
                  <a:srgbClr val="5B811F"/>
                </a:solidFill>
                <a:latin typeface="TT Firs Neue"/>
                <a:ea typeface="TT Firs Neue"/>
                <a:cs typeface="TT Firs Neue"/>
                <a:sym typeface="TT Firs Neue"/>
              </a:rPr>
              <a:t>Step 2: Add Your Farm – Define farm boundaries and location data</a:t>
            </a:r>
          </a:p>
          <a:p>
            <a:pPr marL="0" lvl="0" indent="0" algn="l">
              <a:lnSpc>
                <a:spcPts val="2504"/>
              </a:lnSpc>
            </a:pPr>
            <a:r>
              <a:rPr lang="en-US" sz="1789">
                <a:solidFill>
                  <a:srgbClr val="5B811F"/>
                </a:solidFill>
                <a:latin typeface="TT Firs Neue"/>
                <a:ea typeface="TT Firs Neue"/>
                <a:cs typeface="TT Firs Neue"/>
                <a:sym typeface="TT Firs Neue"/>
              </a:rPr>
              <a:t>Step 3: Manage Crops – Add crops, planting and watering plans</a:t>
            </a:r>
          </a:p>
          <a:p>
            <a:pPr marL="0" lvl="0" indent="0" algn="l">
              <a:lnSpc>
                <a:spcPts val="2504"/>
              </a:lnSpc>
            </a:pPr>
            <a:r>
              <a:rPr lang="en-US" sz="1789">
                <a:solidFill>
                  <a:srgbClr val="5B811F"/>
                </a:solidFill>
                <a:latin typeface="TT Firs Neue"/>
                <a:ea typeface="TT Firs Neue"/>
                <a:cs typeface="TT Firs Neue"/>
                <a:sym typeface="TT Firs Neue"/>
              </a:rPr>
              <a:t>Step 4: Schedule Irrigation – Plan watering and fertilizer events</a:t>
            </a:r>
          </a:p>
          <a:p>
            <a:pPr marL="0" lvl="0" indent="0" algn="l">
              <a:lnSpc>
                <a:spcPts val="2504"/>
              </a:lnSpc>
            </a:pPr>
            <a:r>
              <a:rPr lang="en-US" sz="1789">
                <a:solidFill>
                  <a:srgbClr val="5B811F"/>
                </a:solidFill>
                <a:latin typeface="TT Firs Neue"/>
                <a:ea typeface="TT Firs Neue"/>
                <a:cs typeface="TT Firs Neue"/>
                <a:sym typeface="TT Firs Neue"/>
              </a:rPr>
              <a:t>Step 5: Generate Reports – View crop performance and resource analytics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39517" y="4688877"/>
            <a:ext cx="5107778" cy="33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2"/>
              </a:lnSpc>
            </a:pPr>
            <a:r>
              <a:rPr lang="en-US" sz="1958" b="1">
                <a:solidFill>
                  <a:srgbClr val="5B811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From Registration to Reports in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2896239" cy="2896239"/>
          </a:xfrm>
          <a:custGeom>
            <a:avLst/>
            <a:gdLst/>
            <a:ahLst/>
            <a:cxnLst/>
            <a:rect l="l" t="t" r="r" b="b"/>
            <a:pathLst>
              <a:path w="2896239" h="2896239">
                <a:moveTo>
                  <a:pt x="0" y="0"/>
                </a:moveTo>
                <a:lnTo>
                  <a:pt x="2896239" y="0"/>
                </a:lnTo>
                <a:lnTo>
                  <a:pt x="2896239" y="2896239"/>
                </a:lnTo>
                <a:lnTo>
                  <a:pt x="0" y="2896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768258" y="5353054"/>
            <a:ext cx="8580225" cy="3533613"/>
            <a:chOff x="0" y="0"/>
            <a:chExt cx="2091284" cy="8612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91286" cy="861258"/>
            </a:xfrm>
            <a:custGeom>
              <a:avLst/>
              <a:gdLst/>
              <a:ahLst/>
              <a:cxnLst/>
              <a:rect l="l" t="t" r="r" b="b"/>
              <a:pathLst>
                <a:path w="2091286" h="861258">
                  <a:moveTo>
                    <a:pt x="174432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942870" y="861258"/>
                  </a:lnTo>
                  <a:cubicBezTo>
                    <a:pt x="1982232" y="861258"/>
                    <a:pt x="2019983" y="845622"/>
                    <a:pt x="2047816" y="817789"/>
                  </a:cubicBezTo>
                  <a:cubicBezTo>
                    <a:pt x="2075650" y="789956"/>
                    <a:pt x="2091286" y="752206"/>
                    <a:pt x="2091286" y="712843"/>
                  </a:cubicBezTo>
                  <a:lnTo>
                    <a:pt x="2091286" y="366141"/>
                  </a:lnTo>
                  <a:cubicBezTo>
                    <a:pt x="2091287" y="329143"/>
                    <a:pt x="2077467" y="293478"/>
                    <a:pt x="2052537" y="266140"/>
                  </a:cubicBezTo>
                  <a:lnTo>
                    <a:pt x="1853994" y="48414"/>
                  </a:lnTo>
                  <a:cubicBezTo>
                    <a:pt x="1825872" y="17574"/>
                    <a:pt x="1786064" y="0"/>
                    <a:pt x="1744327" y="0"/>
                  </a:cubicBezTo>
                  <a:close/>
                </a:path>
              </a:pathLst>
            </a:custGeom>
            <a:blipFill>
              <a:blip r:embed="rId3"/>
              <a:stretch>
                <a:fillRect t="-839" b="-839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6361967">
            <a:off x="14127645" y="-2237219"/>
            <a:ext cx="3262161" cy="5517434"/>
          </a:xfrm>
          <a:custGeom>
            <a:avLst/>
            <a:gdLst/>
            <a:ahLst/>
            <a:cxnLst/>
            <a:rect l="l" t="t" r="r" b="b"/>
            <a:pathLst>
              <a:path w="3262161" h="5517434">
                <a:moveTo>
                  <a:pt x="0" y="0"/>
                </a:moveTo>
                <a:lnTo>
                  <a:pt x="3262161" y="0"/>
                </a:lnTo>
                <a:lnTo>
                  <a:pt x="3262161" y="5517434"/>
                </a:lnTo>
                <a:lnTo>
                  <a:pt x="0" y="5517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768258" y="1400333"/>
            <a:ext cx="8580225" cy="3533613"/>
            <a:chOff x="0" y="0"/>
            <a:chExt cx="2091284" cy="8612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91286" cy="861258"/>
            </a:xfrm>
            <a:custGeom>
              <a:avLst/>
              <a:gdLst/>
              <a:ahLst/>
              <a:cxnLst/>
              <a:rect l="l" t="t" r="r" b="b"/>
              <a:pathLst>
                <a:path w="2091286" h="861258">
                  <a:moveTo>
                    <a:pt x="174432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942870" y="861258"/>
                  </a:lnTo>
                  <a:cubicBezTo>
                    <a:pt x="1982232" y="861258"/>
                    <a:pt x="2019983" y="845622"/>
                    <a:pt x="2047816" y="817789"/>
                  </a:cubicBezTo>
                  <a:cubicBezTo>
                    <a:pt x="2075650" y="789956"/>
                    <a:pt x="2091286" y="752206"/>
                    <a:pt x="2091286" y="712843"/>
                  </a:cubicBezTo>
                  <a:lnTo>
                    <a:pt x="2091286" y="366141"/>
                  </a:lnTo>
                  <a:cubicBezTo>
                    <a:pt x="2091287" y="329143"/>
                    <a:pt x="2077467" y="293478"/>
                    <a:pt x="2052537" y="266140"/>
                  </a:cubicBezTo>
                  <a:lnTo>
                    <a:pt x="1853994" y="48414"/>
                  </a:lnTo>
                  <a:cubicBezTo>
                    <a:pt x="1825872" y="17574"/>
                    <a:pt x="1786064" y="0"/>
                    <a:pt x="1744327" y="0"/>
                  </a:cubicBezTo>
                  <a:close/>
                </a:path>
              </a:pathLst>
            </a:custGeom>
            <a:blipFill>
              <a:blip r:embed="rId5"/>
              <a:stretch>
                <a:fillRect t="-2054" b="-2054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939517" y="1766329"/>
            <a:ext cx="5107778" cy="277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795" spc="-373">
                <a:solidFill>
                  <a:srgbClr val="5B81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About FarmVerse Platform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39517" y="5625461"/>
            <a:ext cx="4664520" cy="2473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Built on Java Full Stack for scalability. Modern, responsive UI for all web devices. Role-based access control with data encryption. Modular, cloud-ready architecture. Simplified dashboard for daily farm operations.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39517" y="4876796"/>
            <a:ext cx="4361213" cy="40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34"/>
              </a:lnSpc>
            </a:pPr>
            <a:r>
              <a:rPr lang="en-US" sz="2310" b="1">
                <a:solidFill>
                  <a:srgbClr val="5B811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Technical &amp; Design Overview</a:t>
            </a:r>
          </a:p>
        </p:txBody>
      </p:sp>
      <p:sp>
        <p:nvSpPr>
          <p:cNvPr id="11" name="Freeform 11"/>
          <p:cNvSpPr/>
          <p:nvPr/>
        </p:nvSpPr>
        <p:spPr>
          <a:xfrm>
            <a:off x="17259300" y="4933946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8" y="0"/>
                </a:lnTo>
                <a:lnTo>
                  <a:pt x="3639728" y="3639729"/>
                </a:lnTo>
                <a:lnTo>
                  <a:pt x="0" y="3639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802459" y="3182141"/>
            <a:ext cx="1604918" cy="2714467"/>
          </a:xfrm>
          <a:custGeom>
            <a:avLst/>
            <a:gdLst/>
            <a:ahLst/>
            <a:cxnLst/>
            <a:rect l="l" t="t" r="r" b="b"/>
            <a:pathLst>
              <a:path w="1604918" h="2714467">
                <a:moveTo>
                  <a:pt x="0" y="0"/>
                </a:moveTo>
                <a:lnTo>
                  <a:pt x="1604918" y="0"/>
                </a:lnTo>
                <a:lnTo>
                  <a:pt x="1604918" y="2714467"/>
                </a:lnTo>
                <a:lnTo>
                  <a:pt x="0" y="27144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8052" flipH="1">
            <a:off x="10480909" y="5161101"/>
            <a:ext cx="3262161" cy="5517434"/>
          </a:xfrm>
          <a:custGeom>
            <a:avLst/>
            <a:gdLst/>
            <a:ahLst/>
            <a:cxnLst/>
            <a:rect l="l" t="t" r="r" b="b"/>
            <a:pathLst>
              <a:path w="3262161" h="5517434">
                <a:moveTo>
                  <a:pt x="3262161" y="0"/>
                </a:moveTo>
                <a:lnTo>
                  <a:pt x="0" y="0"/>
                </a:lnTo>
                <a:lnTo>
                  <a:pt x="0" y="5517434"/>
                </a:lnTo>
                <a:lnTo>
                  <a:pt x="3262161" y="5517434"/>
                </a:lnTo>
                <a:lnTo>
                  <a:pt x="326216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16292" y="-405158"/>
            <a:ext cx="6139106" cy="11106862"/>
            <a:chOff x="0" y="0"/>
            <a:chExt cx="951108" cy="17207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1108" cy="1720744"/>
            </a:xfrm>
            <a:custGeom>
              <a:avLst/>
              <a:gdLst/>
              <a:ahLst/>
              <a:cxnLst/>
              <a:rect l="l" t="t" r="r" b="b"/>
              <a:pathLst>
                <a:path w="951108" h="1720744">
                  <a:moveTo>
                    <a:pt x="63054" y="0"/>
                  </a:moveTo>
                  <a:lnTo>
                    <a:pt x="888054" y="0"/>
                  </a:lnTo>
                  <a:cubicBezTo>
                    <a:pt x="904777" y="0"/>
                    <a:pt x="920815" y="6643"/>
                    <a:pt x="932640" y="18468"/>
                  </a:cubicBezTo>
                  <a:cubicBezTo>
                    <a:pt x="944465" y="30293"/>
                    <a:pt x="951108" y="46331"/>
                    <a:pt x="951108" y="63054"/>
                  </a:cubicBezTo>
                  <a:lnTo>
                    <a:pt x="951108" y="1657690"/>
                  </a:lnTo>
                  <a:cubicBezTo>
                    <a:pt x="951108" y="1692513"/>
                    <a:pt x="922878" y="1720744"/>
                    <a:pt x="888054" y="1720744"/>
                  </a:cubicBezTo>
                  <a:lnTo>
                    <a:pt x="63054" y="1720744"/>
                  </a:lnTo>
                  <a:cubicBezTo>
                    <a:pt x="28230" y="1720744"/>
                    <a:pt x="0" y="1692513"/>
                    <a:pt x="0" y="1657690"/>
                  </a:cubicBezTo>
                  <a:lnTo>
                    <a:pt x="0" y="63054"/>
                  </a:lnTo>
                  <a:cubicBezTo>
                    <a:pt x="0" y="28230"/>
                    <a:pt x="28230" y="0"/>
                    <a:pt x="63054" y="0"/>
                  </a:cubicBezTo>
                  <a:close/>
                </a:path>
              </a:pathLst>
            </a:custGeom>
            <a:blipFill>
              <a:blip r:embed="rId3"/>
              <a:stretch>
                <a:fillRect l="-92" r="-92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535550" y="6800313"/>
            <a:ext cx="6658648" cy="2105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4"/>
              </a:lnSpc>
            </a:pPr>
            <a:r>
              <a:rPr lang="en-US" sz="6795" b="1">
                <a:solidFill>
                  <a:srgbClr val="5B811F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System</a:t>
            </a:r>
          </a:p>
          <a:p>
            <a:pPr marL="0" lvl="0" indent="0" algn="l">
              <a:lnSpc>
                <a:spcPts val="7474"/>
              </a:lnSpc>
            </a:pPr>
            <a:r>
              <a:rPr lang="en-US" sz="6795" b="1">
                <a:solidFill>
                  <a:srgbClr val="5B811F"/>
                </a:solidFill>
                <a:latin typeface="Agrandir Bold"/>
                <a:ea typeface="Agrandir Bold"/>
                <a:cs typeface="Agrandir Bold"/>
                <a:sym typeface="Agrandir Bold"/>
              </a:rPr>
              <a:t>Capabilities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30906" y="3591556"/>
            <a:ext cx="3739123" cy="100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6"/>
              </a:lnSpc>
            </a:pPr>
            <a:r>
              <a:rPr lang="en-US" sz="1883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Soil &amp; Irrigation: soil records management; plan, update &amp; view watering schedules.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94198" y="3415344"/>
            <a:ext cx="3064506" cy="134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6"/>
              </a:lnSpc>
            </a:pPr>
            <a:r>
              <a:rPr lang="en-US" sz="1883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Weather &amp; Reports: current conditions, crop reports, water usage &amp; activity logs.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30906" y="1759177"/>
            <a:ext cx="3552374" cy="134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6"/>
              </a:lnSpc>
            </a:pPr>
            <a:r>
              <a:rPr lang="en-US" sz="1883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User Management: registration, login, logout, password recovery &amp; role management.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94198" y="1759177"/>
            <a:ext cx="3917791" cy="100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6"/>
              </a:lnSpc>
            </a:pPr>
            <a:r>
              <a:rPr lang="en-US" sz="1883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Farm &amp; Crop Management: add, edit, delete farms; manage crops &amp; harvest history.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35550" y="6104339"/>
            <a:ext cx="4829903" cy="42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b="1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Functional Requirements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927287" y="1816327"/>
            <a:ext cx="636919" cy="6369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27287" y="3665837"/>
            <a:ext cx="636919" cy="63691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85842" y="3489624"/>
            <a:ext cx="636919" cy="63691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85842" y="1799493"/>
            <a:ext cx="636919" cy="63691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7459755" y="1967140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3" y="0"/>
                </a:lnTo>
                <a:lnTo>
                  <a:pt x="289093" y="289092"/>
                </a:lnTo>
                <a:lnTo>
                  <a:pt x="0" y="28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7489122" y="3665837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3" y="0"/>
                </a:lnTo>
                <a:lnTo>
                  <a:pt x="289093" y="289092"/>
                </a:lnTo>
                <a:lnTo>
                  <a:pt x="0" y="28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2101200" y="1998806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3" y="0"/>
                </a:lnTo>
                <a:lnTo>
                  <a:pt x="289093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2122714" y="3839750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7748848" y="8881839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8" y="0"/>
                </a:lnTo>
                <a:lnTo>
                  <a:pt x="3639728" y="3639729"/>
                </a:lnTo>
                <a:lnTo>
                  <a:pt x="0" y="3639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892374">
            <a:off x="-765577" y="1242043"/>
            <a:ext cx="1870504" cy="3163665"/>
          </a:xfrm>
          <a:custGeom>
            <a:avLst/>
            <a:gdLst/>
            <a:ahLst/>
            <a:cxnLst/>
            <a:rect l="l" t="t" r="r" b="b"/>
            <a:pathLst>
              <a:path w="1870504" h="3163665">
                <a:moveTo>
                  <a:pt x="0" y="0"/>
                </a:moveTo>
                <a:lnTo>
                  <a:pt x="1870504" y="0"/>
                </a:lnTo>
                <a:lnTo>
                  <a:pt x="1870504" y="3163665"/>
                </a:lnTo>
                <a:lnTo>
                  <a:pt x="0" y="31636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5413755" y="-1026735"/>
            <a:ext cx="1875473" cy="1875472"/>
          </a:xfrm>
          <a:custGeom>
            <a:avLst/>
            <a:gdLst/>
            <a:ahLst/>
            <a:cxnLst/>
            <a:rect l="l" t="t" r="r" b="b"/>
            <a:pathLst>
              <a:path w="1875473" h="1875472">
                <a:moveTo>
                  <a:pt x="0" y="0"/>
                </a:moveTo>
                <a:lnTo>
                  <a:pt x="1875473" y="0"/>
                </a:lnTo>
                <a:lnTo>
                  <a:pt x="1875473" y="1875473"/>
                </a:lnTo>
                <a:lnTo>
                  <a:pt x="0" y="1875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5034" y="4608670"/>
            <a:ext cx="8334446" cy="3315305"/>
            <a:chOff x="0" y="0"/>
            <a:chExt cx="1038683" cy="4131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8683" cy="413171"/>
            </a:xfrm>
            <a:custGeom>
              <a:avLst/>
              <a:gdLst/>
              <a:ahLst/>
              <a:cxnLst/>
              <a:rect l="l" t="t" r="r" b="b"/>
              <a:pathLst>
                <a:path w="1038683" h="413171">
                  <a:moveTo>
                    <a:pt x="46445" y="0"/>
                  </a:moveTo>
                  <a:lnTo>
                    <a:pt x="992237" y="0"/>
                  </a:lnTo>
                  <a:cubicBezTo>
                    <a:pt x="1017889" y="0"/>
                    <a:pt x="1038683" y="20794"/>
                    <a:pt x="1038683" y="46445"/>
                  </a:cubicBezTo>
                  <a:lnTo>
                    <a:pt x="1038683" y="366726"/>
                  </a:lnTo>
                  <a:cubicBezTo>
                    <a:pt x="1038683" y="392377"/>
                    <a:pt x="1017889" y="413171"/>
                    <a:pt x="992237" y="413171"/>
                  </a:cubicBezTo>
                  <a:lnTo>
                    <a:pt x="46445" y="413171"/>
                  </a:lnTo>
                  <a:cubicBezTo>
                    <a:pt x="20794" y="413171"/>
                    <a:pt x="0" y="392377"/>
                    <a:pt x="0" y="366726"/>
                  </a:cubicBezTo>
                  <a:lnTo>
                    <a:pt x="0" y="46445"/>
                  </a:lnTo>
                  <a:cubicBezTo>
                    <a:pt x="0" y="20794"/>
                    <a:pt x="20794" y="0"/>
                    <a:pt x="46445" y="0"/>
                  </a:cubicBezTo>
                  <a:close/>
                </a:path>
              </a:pathLst>
            </a:custGeom>
            <a:blipFill>
              <a:blip r:embed="rId2"/>
              <a:stretch>
                <a:fillRect t="-592" b="-59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42084" y="8298035"/>
            <a:ext cx="473931" cy="47393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640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862754" y="8418705"/>
            <a:ext cx="232591" cy="232591"/>
          </a:xfrm>
          <a:custGeom>
            <a:avLst/>
            <a:gdLst/>
            <a:ahLst/>
            <a:cxnLst/>
            <a:rect l="l" t="t" r="r" b="b"/>
            <a:pathLst>
              <a:path w="232591" h="232591">
                <a:moveTo>
                  <a:pt x="0" y="0"/>
                </a:moveTo>
                <a:lnTo>
                  <a:pt x="232591" y="0"/>
                </a:lnTo>
                <a:lnTo>
                  <a:pt x="232591" y="232591"/>
                </a:lnTo>
                <a:lnTo>
                  <a:pt x="0" y="232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42084" y="1943890"/>
            <a:ext cx="6658648" cy="2105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4"/>
              </a:lnSpc>
            </a:pPr>
            <a:r>
              <a:rPr lang="en-US" sz="6795" b="1">
                <a:solidFill>
                  <a:srgbClr val="5B811F"/>
                </a:solidFill>
                <a:latin typeface="Agrandir Bold"/>
                <a:ea typeface="Agrandir Bold"/>
                <a:cs typeface="Agrandir Bold"/>
                <a:sym typeface="Agrandir Bold"/>
              </a:rPr>
              <a:t>Non-Functional Requirements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56187" y="2894413"/>
            <a:ext cx="447368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Responsive design for all devices and screen sizes.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55347" y="5447585"/>
            <a:ext cx="408015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Fast performance and scalable system architecture.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56187" y="4187331"/>
            <a:ext cx="408015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Secure authentication and data integrity protection.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55347" y="6740503"/>
            <a:ext cx="4080155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5B811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Role-based access control for secure multi-user management.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41945" y="8326085"/>
            <a:ext cx="3990353" cy="24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42084" y="1378045"/>
            <a:ext cx="5114663" cy="42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b="1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Quality &amp; Design Principles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249215" y="2793619"/>
            <a:ext cx="636919" cy="63691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249215" y="4021360"/>
            <a:ext cx="636919" cy="63691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249215" y="5248829"/>
            <a:ext cx="636919" cy="636919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249215" y="6433783"/>
            <a:ext cx="636919" cy="636919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1423129" y="2922988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2"/>
                </a:lnTo>
                <a:lnTo>
                  <a:pt x="0" y="28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1423129" y="4163886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1423129" y="5404785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11423129" y="6552103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 rot="-878052" flipH="1">
            <a:off x="16656919" y="6874694"/>
            <a:ext cx="3262161" cy="5517434"/>
          </a:xfrm>
          <a:custGeom>
            <a:avLst/>
            <a:gdLst/>
            <a:ahLst/>
            <a:cxnLst/>
            <a:rect l="l" t="t" r="r" b="b"/>
            <a:pathLst>
              <a:path w="3262161" h="5517434">
                <a:moveTo>
                  <a:pt x="3262162" y="0"/>
                </a:moveTo>
                <a:lnTo>
                  <a:pt x="0" y="0"/>
                </a:lnTo>
                <a:lnTo>
                  <a:pt x="0" y="5517434"/>
                </a:lnTo>
                <a:lnTo>
                  <a:pt x="3262162" y="5517434"/>
                </a:lnTo>
                <a:lnTo>
                  <a:pt x="32621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7748848" y="8881839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8" y="0"/>
                </a:lnTo>
                <a:lnTo>
                  <a:pt x="3639728" y="3639729"/>
                </a:lnTo>
                <a:lnTo>
                  <a:pt x="0" y="3639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750469">
            <a:off x="-463625" y="533551"/>
            <a:ext cx="1500948" cy="2538619"/>
          </a:xfrm>
          <a:custGeom>
            <a:avLst/>
            <a:gdLst/>
            <a:ahLst/>
            <a:cxnLst/>
            <a:rect l="l" t="t" r="r" b="b"/>
            <a:pathLst>
              <a:path w="1500948" h="2538619">
                <a:moveTo>
                  <a:pt x="0" y="0"/>
                </a:moveTo>
                <a:lnTo>
                  <a:pt x="1500948" y="0"/>
                </a:lnTo>
                <a:lnTo>
                  <a:pt x="1500948" y="2538619"/>
                </a:lnTo>
                <a:lnTo>
                  <a:pt x="0" y="2538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1249215" y="-846772"/>
            <a:ext cx="1875473" cy="1875472"/>
          </a:xfrm>
          <a:custGeom>
            <a:avLst/>
            <a:gdLst/>
            <a:ahLst/>
            <a:cxnLst/>
            <a:rect l="l" t="t" r="r" b="b"/>
            <a:pathLst>
              <a:path w="1875473" h="1875472">
                <a:moveTo>
                  <a:pt x="0" y="0"/>
                </a:moveTo>
                <a:lnTo>
                  <a:pt x="1875473" y="0"/>
                </a:lnTo>
                <a:lnTo>
                  <a:pt x="1875473" y="1875472"/>
                </a:lnTo>
                <a:lnTo>
                  <a:pt x="0" y="1875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3774" y="5946357"/>
            <a:ext cx="7622639" cy="3533613"/>
            <a:chOff x="0" y="0"/>
            <a:chExt cx="1180946" cy="5474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0946" cy="547449"/>
            </a:xfrm>
            <a:custGeom>
              <a:avLst/>
              <a:gdLst/>
              <a:ahLst/>
              <a:cxnLst/>
              <a:rect l="l" t="t" r="r" b="b"/>
              <a:pathLst>
                <a:path w="1180946" h="547449">
                  <a:moveTo>
                    <a:pt x="35548" y="0"/>
                  </a:moveTo>
                  <a:lnTo>
                    <a:pt x="1145398" y="0"/>
                  </a:lnTo>
                  <a:cubicBezTo>
                    <a:pt x="1165031" y="0"/>
                    <a:pt x="1180946" y="15915"/>
                    <a:pt x="1180946" y="35548"/>
                  </a:cubicBezTo>
                  <a:lnTo>
                    <a:pt x="1180946" y="511901"/>
                  </a:lnTo>
                  <a:cubicBezTo>
                    <a:pt x="1180946" y="521329"/>
                    <a:pt x="1177201" y="530371"/>
                    <a:pt x="1170535" y="537037"/>
                  </a:cubicBezTo>
                  <a:cubicBezTo>
                    <a:pt x="1163868" y="543704"/>
                    <a:pt x="1154826" y="547449"/>
                    <a:pt x="1145398" y="547449"/>
                  </a:cubicBezTo>
                  <a:lnTo>
                    <a:pt x="35548" y="547449"/>
                  </a:lnTo>
                  <a:cubicBezTo>
                    <a:pt x="15915" y="547449"/>
                    <a:pt x="0" y="531534"/>
                    <a:pt x="0" y="511901"/>
                  </a:cubicBezTo>
                  <a:lnTo>
                    <a:pt x="0" y="35548"/>
                  </a:lnTo>
                  <a:cubicBezTo>
                    <a:pt x="0" y="15915"/>
                    <a:pt x="15915" y="0"/>
                    <a:pt x="35548" y="0"/>
                  </a:cubicBezTo>
                  <a:close/>
                </a:path>
              </a:pathLst>
            </a:custGeom>
            <a:blipFill>
              <a:blip r:embed="rId2"/>
              <a:stretch>
                <a:fillRect t="-424" b="-42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68258" y="5946357"/>
            <a:ext cx="8580225" cy="3533613"/>
            <a:chOff x="0" y="0"/>
            <a:chExt cx="1329301" cy="5474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29301" cy="547449"/>
            </a:xfrm>
            <a:custGeom>
              <a:avLst/>
              <a:gdLst/>
              <a:ahLst/>
              <a:cxnLst/>
              <a:rect l="l" t="t" r="r" b="b"/>
              <a:pathLst>
                <a:path w="1329301" h="547449">
                  <a:moveTo>
                    <a:pt x="31580" y="0"/>
                  </a:moveTo>
                  <a:lnTo>
                    <a:pt x="1297721" y="0"/>
                  </a:lnTo>
                  <a:cubicBezTo>
                    <a:pt x="1306097" y="0"/>
                    <a:pt x="1314129" y="3327"/>
                    <a:pt x="1320052" y="9250"/>
                  </a:cubicBezTo>
                  <a:cubicBezTo>
                    <a:pt x="1325974" y="15172"/>
                    <a:pt x="1329301" y="23205"/>
                    <a:pt x="1329301" y="31580"/>
                  </a:cubicBezTo>
                  <a:lnTo>
                    <a:pt x="1329301" y="515869"/>
                  </a:lnTo>
                  <a:cubicBezTo>
                    <a:pt x="1329301" y="533310"/>
                    <a:pt x="1315162" y="547449"/>
                    <a:pt x="1297721" y="547449"/>
                  </a:cubicBezTo>
                  <a:lnTo>
                    <a:pt x="31580" y="547449"/>
                  </a:lnTo>
                  <a:cubicBezTo>
                    <a:pt x="14139" y="547449"/>
                    <a:pt x="0" y="533310"/>
                    <a:pt x="0" y="515869"/>
                  </a:cubicBezTo>
                  <a:lnTo>
                    <a:pt x="0" y="31580"/>
                  </a:lnTo>
                  <a:cubicBezTo>
                    <a:pt x="0" y="14139"/>
                    <a:pt x="14139" y="0"/>
                    <a:pt x="31580" y="0"/>
                  </a:cubicBezTo>
                  <a:close/>
                </a:path>
              </a:pathLst>
            </a:custGeom>
            <a:blipFill>
              <a:blip r:embed="rId3"/>
              <a:stretch>
                <a:fillRect t="-839" b="-83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369191" y="2150420"/>
            <a:ext cx="8225902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00"/>
              </a:lnSpc>
            </a:pPr>
            <a:r>
              <a:rPr lang="en-US" sz="6800" spc="-374">
                <a:solidFill>
                  <a:srgbClr val="5B81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FarmVerse User Interface Preview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26635" y="2990842"/>
            <a:ext cx="5748568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A visual overview of FarmVerse dashboards and modules — designed for clarity, ease of use, and seamless farm management workflows.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26635" y="1961825"/>
            <a:ext cx="515663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 b="1">
                <a:solidFill>
                  <a:srgbClr val="5B811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Clean, Intuitive &amp; Modern Design</a:t>
            </a:r>
          </a:p>
        </p:txBody>
      </p:sp>
      <p:sp>
        <p:nvSpPr>
          <p:cNvPr id="9" name="Freeform 9"/>
          <p:cNvSpPr/>
          <p:nvPr/>
        </p:nvSpPr>
        <p:spPr>
          <a:xfrm rot="6361967">
            <a:off x="12842712" y="-1952450"/>
            <a:ext cx="2416320" cy="4086827"/>
          </a:xfrm>
          <a:custGeom>
            <a:avLst/>
            <a:gdLst/>
            <a:ahLst/>
            <a:cxnLst/>
            <a:rect l="l" t="t" r="r" b="b"/>
            <a:pathLst>
              <a:path w="2416320" h="4086827">
                <a:moveTo>
                  <a:pt x="0" y="0"/>
                </a:moveTo>
                <a:lnTo>
                  <a:pt x="2416320" y="0"/>
                </a:lnTo>
                <a:lnTo>
                  <a:pt x="2416320" y="4086827"/>
                </a:lnTo>
                <a:lnTo>
                  <a:pt x="0" y="40868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929508" y="3323636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9" y="0"/>
                </a:lnTo>
                <a:lnTo>
                  <a:pt x="3639729" y="3639728"/>
                </a:lnTo>
                <a:lnTo>
                  <a:pt x="0" y="363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82328" y="529693"/>
            <a:ext cx="1218119" cy="2060258"/>
          </a:xfrm>
          <a:custGeom>
            <a:avLst/>
            <a:gdLst/>
            <a:ahLst/>
            <a:cxnLst/>
            <a:rect l="l" t="t" r="r" b="b"/>
            <a:pathLst>
              <a:path w="1218119" h="2060258">
                <a:moveTo>
                  <a:pt x="0" y="0"/>
                </a:moveTo>
                <a:lnTo>
                  <a:pt x="1218119" y="0"/>
                </a:lnTo>
                <a:lnTo>
                  <a:pt x="1218119" y="2060257"/>
                </a:lnTo>
                <a:lnTo>
                  <a:pt x="0" y="2060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30522" y="-846772"/>
            <a:ext cx="1875472" cy="1875472"/>
          </a:xfrm>
          <a:custGeom>
            <a:avLst/>
            <a:gdLst/>
            <a:ahLst/>
            <a:cxnLst/>
            <a:rect l="l" t="t" r="r" b="b"/>
            <a:pathLst>
              <a:path w="1875472" h="1875472">
                <a:moveTo>
                  <a:pt x="0" y="0"/>
                </a:moveTo>
                <a:lnTo>
                  <a:pt x="1875473" y="0"/>
                </a:lnTo>
                <a:lnTo>
                  <a:pt x="1875473" y="1875472"/>
                </a:lnTo>
                <a:lnTo>
                  <a:pt x="0" y="1875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2084" y="8298035"/>
            <a:ext cx="473931" cy="4739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640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34053" y="2509900"/>
            <a:ext cx="636919" cy="6369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34053" y="3737642"/>
            <a:ext cx="636919" cy="63691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34053" y="4965111"/>
            <a:ext cx="636919" cy="6369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34053" y="6150065"/>
            <a:ext cx="636919" cy="63691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652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17407" y="4374561"/>
            <a:ext cx="7792696" cy="3710657"/>
            <a:chOff x="0" y="0"/>
            <a:chExt cx="1207293" cy="57487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07292" cy="574878"/>
            </a:xfrm>
            <a:custGeom>
              <a:avLst/>
              <a:gdLst/>
              <a:ahLst/>
              <a:cxnLst/>
              <a:rect l="l" t="t" r="r" b="b"/>
              <a:pathLst>
                <a:path w="1207292" h="574878">
                  <a:moveTo>
                    <a:pt x="0" y="0"/>
                  </a:moveTo>
                  <a:lnTo>
                    <a:pt x="1207292" y="0"/>
                  </a:lnTo>
                  <a:lnTo>
                    <a:pt x="1207292" y="574878"/>
                  </a:lnTo>
                  <a:lnTo>
                    <a:pt x="0" y="574878"/>
                  </a:lnTo>
                  <a:close/>
                </a:path>
              </a:pathLst>
            </a:custGeom>
            <a:blipFill>
              <a:blip r:embed="rId2"/>
              <a:stretch>
                <a:fillRect t="-8" b="-8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10607967" y="2675813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1517407" y="1305938"/>
            <a:ext cx="7058698" cy="1972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4"/>
              </a:lnSpc>
            </a:pPr>
            <a:r>
              <a:rPr lang="en-US" sz="6795" b="1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 of Benefits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41945" y="8316560"/>
            <a:ext cx="3990353" cy="32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83"/>
              </a:lnSpc>
            </a:pPr>
            <a:r>
              <a:rPr lang="en-US" sz="1845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www.farmverse.com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98937" y="3491897"/>
            <a:ext cx="5476369" cy="42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b="1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Why FarmVerse Matters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89432" y="2639448"/>
            <a:ext cx="5311201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Affordable, sensor-free precision agriculture management.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89432" y="3830366"/>
            <a:ext cx="4281960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Centralized digital records improve farm operational efficiency.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89432" y="5094658"/>
            <a:ext cx="4281960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Data-driven insights support better decision-making.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89432" y="6219657"/>
            <a:ext cx="4281960" cy="5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>
                <a:solidFill>
                  <a:srgbClr val="5B811F"/>
                </a:solidFill>
                <a:latin typeface="Poppins"/>
                <a:ea typeface="Poppins"/>
                <a:cs typeface="Poppins"/>
                <a:sym typeface="Poppins"/>
              </a:rPr>
              <a:t>Supports multiple farms and user roles seamlessly.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607967" y="3916712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2"/>
                </a:lnTo>
                <a:lnTo>
                  <a:pt x="0" y="28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0607967" y="5157610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0607967" y="6304928"/>
            <a:ext cx="289093" cy="289093"/>
          </a:xfrm>
          <a:custGeom>
            <a:avLst/>
            <a:gdLst/>
            <a:ahLst/>
            <a:cxnLst/>
            <a:rect l="l" t="t" r="r" b="b"/>
            <a:pathLst>
              <a:path w="289093" h="289093">
                <a:moveTo>
                  <a:pt x="0" y="0"/>
                </a:moveTo>
                <a:lnTo>
                  <a:pt x="289092" y="0"/>
                </a:lnTo>
                <a:lnTo>
                  <a:pt x="289092" y="289093"/>
                </a:lnTo>
                <a:lnTo>
                  <a:pt x="0" y="289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 rot="544538" flipH="1">
            <a:off x="15163958" y="7083755"/>
            <a:ext cx="3262161" cy="5517434"/>
          </a:xfrm>
          <a:custGeom>
            <a:avLst/>
            <a:gdLst/>
            <a:ahLst/>
            <a:cxnLst/>
            <a:rect l="l" t="t" r="r" b="b"/>
            <a:pathLst>
              <a:path w="3262161" h="5517434">
                <a:moveTo>
                  <a:pt x="3262161" y="0"/>
                </a:moveTo>
                <a:lnTo>
                  <a:pt x="0" y="0"/>
                </a:lnTo>
                <a:lnTo>
                  <a:pt x="0" y="5517434"/>
                </a:lnTo>
                <a:lnTo>
                  <a:pt x="3262161" y="5517434"/>
                </a:lnTo>
                <a:lnTo>
                  <a:pt x="326216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077195" y="8771966"/>
            <a:ext cx="3639728" cy="3639728"/>
          </a:xfrm>
          <a:custGeom>
            <a:avLst/>
            <a:gdLst/>
            <a:ahLst/>
            <a:cxnLst/>
            <a:rect l="l" t="t" r="r" b="b"/>
            <a:pathLst>
              <a:path w="3639728" h="3639728">
                <a:moveTo>
                  <a:pt x="0" y="0"/>
                </a:moveTo>
                <a:lnTo>
                  <a:pt x="3639729" y="0"/>
                </a:lnTo>
                <a:lnTo>
                  <a:pt x="3639729" y="3639728"/>
                </a:lnTo>
                <a:lnTo>
                  <a:pt x="0" y="363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-570105" y="1410672"/>
            <a:ext cx="1598805" cy="2704128"/>
          </a:xfrm>
          <a:custGeom>
            <a:avLst/>
            <a:gdLst/>
            <a:ahLst/>
            <a:cxnLst/>
            <a:rect l="l" t="t" r="r" b="b"/>
            <a:pathLst>
              <a:path w="1598805" h="2704128">
                <a:moveTo>
                  <a:pt x="0" y="0"/>
                </a:moveTo>
                <a:lnTo>
                  <a:pt x="1598805" y="0"/>
                </a:lnTo>
                <a:lnTo>
                  <a:pt x="1598805" y="2704128"/>
                </a:lnTo>
                <a:lnTo>
                  <a:pt x="0" y="27041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5413755" y="-1026735"/>
            <a:ext cx="1875473" cy="1875472"/>
          </a:xfrm>
          <a:custGeom>
            <a:avLst/>
            <a:gdLst/>
            <a:ahLst/>
            <a:cxnLst/>
            <a:rect l="l" t="t" r="r" b="b"/>
            <a:pathLst>
              <a:path w="1875473" h="1875472">
                <a:moveTo>
                  <a:pt x="0" y="0"/>
                </a:moveTo>
                <a:lnTo>
                  <a:pt x="1875473" y="0"/>
                </a:lnTo>
                <a:lnTo>
                  <a:pt x="1875473" y="1875473"/>
                </a:lnTo>
                <a:lnTo>
                  <a:pt x="0" y="1875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7350264" y="368202"/>
            <a:ext cx="1875472" cy="1875472"/>
          </a:xfrm>
          <a:custGeom>
            <a:avLst/>
            <a:gdLst/>
            <a:ahLst/>
            <a:cxnLst/>
            <a:rect l="l" t="t" r="r" b="b"/>
            <a:pathLst>
              <a:path w="1875472" h="1875472">
                <a:moveTo>
                  <a:pt x="0" y="0"/>
                </a:moveTo>
                <a:lnTo>
                  <a:pt x="1875472" y="0"/>
                </a:lnTo>
                <a:lnTo>
                  <a:pt x="1875472" y="1875472"/>
                </a:lnTo>
                <a:lnTo>
                  <a:pt x="0" y="1875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758" y="1640284"/>
            <a:ext cx="6693595" cy="7006431"/>
            <a:chOff x="0" y="0"/>
            <a:chExt cx="833337" cy="8722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3337" cy="872285"/>
            </a:xfrm>
            <a:custGeom>
              <a:avLst/>
              <a:gdLst/>
              <a:ahLst/>
              <a:cxnLst/>
              <a:rect l="l" t="t" r="r" b="b"/>
              <a:pathLst>
                <a:path w="833337" h="872285">
                  <a:moveTo>
                    <a:pt x="34698" y="0"/>
                  </a:moveTo>
                  <a:lnTo>
                    <a:pt x="798639" y="0"/>
                  </a:lnTo>
                  <a:cubicBezTo>
                    <a:pt x="807841" y="0"/>
                    <a:pt x="816667" y="3656"/>
                    <a:pt x="823174" y="10163"/>
                  </a:cubicBezTo>
                  <a:cubicBezTo>
                    <a:pt x="829682" y="16670"/>
                    <a:pt x="833337" y="25496"/>
                    <a:pt x="833337" y="34698"/>
                  </a:cubicBezTo>
                  <a:lnTo>
                    <a:pt x="833337" y="837586"/>
                  </a:lnTo>
                  <a:cubicBezTo>
                    <a:pt x="833337" y="846789"/>
                    <a:pt x="829682" y="855614"/>
                    <a:pt x="823174" y="862122"/>
                  </a:cubicBezTo>
                  <a:cubicBezTo>
                    <a:pt x="816667" y="868629"/>
                    <a:pt x="807841" y="872285"/>
                    <a:pt x="798639" y="872285"/>
                  </a:cubicBezTo>
                  <a:lnTo>
                    <a:pt x="34698" y="872285"/>
                  </a:lnTo>
                  <a:cubicBezTo>
                    <a:pt x="25496" y="872285"/>
                    <a:pt x="16670" y="868629"/>
                    <a:pt x="10163" y="862122"/>
                  </a:cubicBezTo>
                  <a:cubicBezTo>
                    <a:pt x="3656" y="855614"/>
                    <a:pt x="0" y="846789"/>
                    <a:pt x="0" y="837586"/>
                  </a:cubicBezTo>
                  <a:lnTo>
                    <a:pt x="0" y="34698"/>
                  </a:lnTo>
                  <a:cubicBezTo>
                    <a:pt x="0" y="25496"/>
                    <a:pt x="3656" y="16670"/>
                    <a:pt x="10163" y="10163"/>
                  </a:cubicBezTo>
                  <a:cubicBezTo>
                    <a:pt x="16670" y="3656"/>
                    <a:pt x="25496" y="0"/>
                    <a:pt x="34698" y="0"/>
                  </a:cubicBezTo>
                  <a:close/>
                </a:path>
              </a:pathLst>
            </a:custGeom>
            <a:blipFill>
              <a:blip r:embed="rId2"/>
              <a:stretch>
                <a:fillRect t="-18" b="-18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634954" y="5286728"/>
            <a:ext cx="2225471" cy="651714"/>
            <a:chOff x="0" y="0"/>
            <a:chExt cx="586132" cy="1716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6132" cy="171645"/>
            </a:xfrm>
            <a:custGeom>
              <a:avLst/>
              <a:gdLst/>
              <a:ahLst/>
              <a:cxnLst/>
              <a:rect l="l" t="t" r="r" b="b"/>
              <a:pathLst>
                <a:path w="586132" h="171645">
                  <a:moveTo>
                    <a:pt x="85822" y="0"/>
                  </a:moveTo>
                  <a:lnTo>
                    <a:pt x="500310" y="0"/>
                  </a:lnTo>
                  <a:cubicBezTo>
                    <a:pt x="547708" y="0"/>
                    <a:pt x="586132" y="38424"/>
                    <a:pt x="586132" y="85822"/>
                  </a:cubicBezTo>
                  <a:lnTo>
                    <a:pt x="586132" y="85822"/>
                  </a:lnTo>
                  <a:cubicBezTo>
                    <a:pt x="586132" y="133221"/>
                    <a:pt x="547708" y="171645"/>
                    <a:pt x="500310" y="171645"/>
                  </a:cubicBezTo>
                  <a:lnTo>
                    <a:pt x="85822" y="171645"/>
                  </a:lnTo>
                  <a:cubicBezTo>
                    <a:pt x="38424" y="171645"/>
                    <a:pt x="0" y="133221"/>
                    <a:pt x="0" y="85822"/>
                  </a:cubicBezTo>
                  <a:lnTo>
                    <a:pt x="0" y="85822"/>
                  </a:lnTo>
                  <a:cubicBezTo>
                    <a:pt x="0" y="38424"/>
                    <a:pt x="38424" y="0"/>
                    <a:pt x="85822" y="0"/>
                  </a:cubicBezTo>
                  <a:close/>
                </a:path>
              </a:pathLst>
            </a:custGeom>
            <a:solidFill>
              <a:srgbClr val="55640D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586132" cy="162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8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753008" y="6243199"/>
            <a:ext cx="348001" cy="403301"/>
          </a:xfrm>
          <a:custGeom>
            <a:avLst/>
            <a:gdLst/>
            <a:ahLst/>
            <a:cxnLst/>
            <a:rect l="l" t="t" r="r" b="b"/>
            <a:pathLst>
              <a:path w="348001" h="403301">
                <a:moveTo>
                  <a:pt x="0" y="0"/>
                </a:moveTo>
                <a:lnTo>
                  <a:pt x="348001" y="0"/>
                </a:lnTo>
                <a:lnTo>
                  <a:pt x="348001" y="403301"/>
                </a:lnTo>
                <a:lnTo>
                  <a:pt x="0" y="4033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802030" y="7017223"/>
            <a:ext cx="337078" cy="252442"/>
          </a:xfrm>
          <a:custGeom>
            <a:avLst/>
            <a:gdLst/>
            <a:ahLst/>
            <a:cxnLst/>
            <a:rect l="l" t="t" r="r" b="b"/>
            <a:pathLst>
              <a:path w="337078" h="252442">
                <a:moveTo>
                  <a:pt x="0" y="0"/>
                </a:moveTo>
                <a:lnTo>
                  <a:pt x="337079" y="0"/>
                </a:lnTo>
                <a:lnTo>
                  <a:pt x="337079" y="252442"/>
                </a:lnTo>
                <a:lnTo>
                  <a:pt x="0" y="252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113827" y="6265735"/>
            <a:ext cx="368273" cy="358229"/>
          </a:xfrm>
          <a:custGeom>
            <a:avLst/>
            <a:gdLst/>
            <a:ahLst/>
            <a:cxnLst/>
            <a:rect l="l" t="t" r="r" b="b"/>
            <a:pathLst>
              <a:path w="368273" h="358229">
                <a:moveTo>
                  <a:pt x="0" y="0"/>
                </a:moveTo>
                <a:lnTo>
                  <a:pt x="368273" y="0"/>
                </a:lnTo>
                <a:lnTo>
                  <a:pt x="368273" y="358229"/>
                </a:lnTo>
                <a:lnTo>
                  <a:pt x="0" y="358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634954" y="2926341"/>
            <a:ext cx="550263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096"/>
              </a:lnSpc>
              <a:spcBef>
                <a:spcPct val="0"/>
              </a:spcBef>
            </a:pPr>
            <a:r>
              <a:rPr lang="en-US" sz="3413" b="1" u="none" strike="noStrike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  <a:p>
            <a:pPr marL="0" lvl="0" indent="0" algn="just">
              <a:lnSpc>
                <a:spcPts val="4096"/>
              </a:lnSpc>
              <a:spcBef>
                <a:spcPct val="0"/>
              </a:spcBef>
            </a:pPr>
            <a:r>
              <a:rPr lang="en-US" sz="3413" b="1" u="none" strike="noStrike">
                <a:solidFill>
                  <a:srgbClr val="5B811F"/>
                </a:solidFill>
                <a:latin typeface="Poppins Bold"/>
                <a:ea typeface="Poppins Bold"/>
                <a:cs typeface="Poppins Bold"/>
                <a:sym typeface="Poppins Bold"/>
              </a:rPr>
              <a:t>For Your Time!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92904" y="6935755"/>
            <a:ext cx="2647031" cy="20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4"/>
              </a:lnSpc>
              <a:spcBef>
                <a:spcPct val="0"/>
              </a:spcBef>
            </a:pPr>
            <a:r>
              <a:rPr lang="en-US" sz="1203" b="1" u="none" strike="noStrike">
                <a:solidFill>
                  <a:srgbClr val="5B811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farmverse@demo.com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91108" y="5409067"/>
            <a:ext cx="1913162" cy="398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01"/>
              </a:lnSpc>
            </a:pPr>
            <a:r>
              <a:rPr lang="en-US" sz="1305" b="1" spc="-3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Questions? Let's Connect</a:t>
            </a:r>
          </a:p>
        </p:txBody>
      </p:sp>
      <p:sp>
        <p:nvSpPr>
          <p:cNvPr id="13" name="Freeform 13"/>
          <p:cNvSpPr/>
          <p:nvPr/>
        </p:nvSpPr>
        <p:spPr>
          <a:xfrm rot="-878052" flipH="1">
            <a:off x="16448152" y="1962875"/>
            <a:ext cx="3262161" cy="5517434"/>
          </a:xfrm>
          <a:custGeom>
            <a:avLst/>
            <a:gdLst/>
            <a:ahLst/>
            <a:cxnLst/>
            <a:rect l="l" t="t" r="r" b="b"/>
            <a:pathLst>
              <a:path w="3262161" h="5517434">
                <a:moveTo>
                  <a:pt x="3262161" y="0"/>
                </a:moveTo>
                <a:lnTo>
                  <a:pt x="0" y="0"/>
                </a:lnTo>
                <a:lnTo>
                  <a:pt x="0" y="5517435"/>
                </a:lnTo>
                <a:lnTo>
                  <a:pt x="3262161" y="5517435"/>
                </a:lnTo>
                <a:lnTo>
                  <a:pt x="326216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817227" y="9258300"/>
            <a:ext cx="1875472" cy="1875472"/>
          </a:xfrm>
          <a:custGeom>
            <a:avLst/>
            <a:gdLst/>
            <a:ahLst/>
            <a:cxnLst/>
            <a:rect l="l" t="t" r="r" b="b"/>
            <a:pathLst>
              <a:path w="1875472" h="1875472">
                <a:moveTo>
                  <a:pt x="0" y="0"/>
                </a:moveTo>
                <a:lnTo>
                  <a:pt x="1875473" y="0"/>
                </a:lnTo>
                <a:lnTo>
                  <a:pt x="1875473" y="1875472"/>
                </a:lnTo>
                <a:lnTo>
                  <a:pt x="0" y="1875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2031533" y="7529400"/>
            <a:ext cx="2757600" cy="2757600"/>
          </a:xfrm>
          <a:custGeom>
            <a:avLst/>
            <a:gdLst/>
            <a:ahLst/>
            <a:cxnLst/>
            <a:rect l="l" t="t" r="r" b="b"/>
            <a:pathLst>
              <a:path w="2757600" h="2757600">
                <a:moveTo>
                  <a:pt x="0" y="0"/>
                </a:moveTo>
                <a:lnTo>
                  <a:pt x="2757601" y="0"/>
                </a:lnTo>
                <a:lnTo>
                  <a:pt x="2757601" y="2757600"/>
                </a:lnTo>
                <a:lnTo>
                  <a:pt x="0" y="2757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892374">
            <a:off x="-533582" y="716482"/>
            <a:ext cx="1422316" cy="2405624"/>
          </a:xfrm>
          <a:custGeom>
            <a:avLst/>
            <a:gdLst/>
            <a:ahLst/>
            <a:cxnLst/>
            <a:rect l="l" t="t" r="r" b="b"/>
            <a:pathLst>
              <a:path w="1422316" h="2405624">
                <a:moveTo>
                  <a:pt x="0" y="0"/>
                </a:moveTo>
                <a:lnTo>
                  <a:pt x="1422316" y="0"/>
                </a:lnTo>
                <a:lnTo>
                  <a:pt x="1422316" y="2405624"/>
                </a:lnTo>
                <a:lnTo>
                  <a:pt x="0" y="2405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066161" y="-1764001"/>
            <a:ext cx="3137585" cy="3137585"/>
          </a:xfrm>
          <a:custGeom>
            <a:avLst/>
            <a:gdLst/>
            <a:ahLst/>
            <a:cxnLst/>
            <a:rect l="l" t="t" r="r" b="b"/>
            <a:pathLst>
              <a:path w="3137585" h="3137585">
                <a:moveTo>
                  <a:pt x="0" y="0"/>
                </a:moveTo>
                <a:lnTo>
                  <a:pt x="3137585" y="0"/>
                </a:lnTo>
                <a:lnTo>
                  <a:pt x="3137585" y="3137585"/>
                </a:lnTo>
                <a:lnTo>
                  <a:pt x="0" y="3137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623</Words>
  <Application>Microsoft Office PowerPoint</Application>
  <PresentationFormat>Custom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Poppins Medium</vt:lpstr>
      <vt:lpstr>Agrandir Bold</vt:lpstr>
      <vt:lpstr>Canva Sans Bold</vt:lpstr>
      <vt:lpstr>Poppins Bold</vt:lpstr>
      <vt:lpstr>TT Firs Neue Bold</vt:lpstr>
      <vt:lpstr>Heading Now 71-78</vt:lpstr>
      <vt:lpstr>Arial</vt:lpstr>
      <vt:lpstr>Poppins Semi-Bold</vt:lpstr>
      <vt:lpstr>Calibri</vt:lpstr>
      <vt:lpstr>TT Firs Neue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FarmVerse: Precision Ag Platform</dc:title>
  <cp:lastModifiedBy>Mohit Rathod</cp:lastModifiedBy>
  <cp:revision>2</cp:revision>
  <dcterms:created xsi:type="dcterms:W3CDTF">2006-08-16T00:00:00Z</dcterms:created>
  <dcterms:modified xsi:type="dcterms:W3CDTF">2026-08-18T14:09:05Z</dcterms:modified>
  <dc:identifier>DAHQHQnkWjg</dc:identifier>
</cp:coreProperties>
</file>